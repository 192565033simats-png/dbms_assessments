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2" r:id="rId7"/>
    <p:sldId id="261" r:id="rId8"/>
    <p:sldId id="276" r:id="rId9"/>
    <p:sldId id="262" r:id="rId10"/>
    <p:sldId id="273" r:id="rId11"/>
    <p:sldId id="263" r:id="rId12"/>
    <p:sldId id="264" r:id="rId13"/>
    <p:sldId id="265" r:id="rId14"/>
    <p:sldId id="267" r:id="rId15"/>
    <p:sldId id="266" r:id="rId16"/>
    <p:sldId id="268" r:id="rId17"/>
    <p:sldId id="269" r:id="rId18"/>
    <p:sldId id="274" r:id="rId19"/>
    <p:sldId id="275" r:id="rId20"/>
    <p:sldId id="270"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YA RB" userId="7186c3aacdc35dad" providerId="LiveId" clId="{12C31C2A-657D-4177-B666-B1076FD9590E}"/>
    <pc:docChg chg="undo custSel modSld">
      <pc:chgData name="DHANUSHYA RB" userId="7186c3aacdc35dad" providerId="LiveId" clId="{12C31C2A-657D-4177-B666-B1076FD9590E}" dt="2026-07-23T05:15:52.721" v="366" actId="403"/>
      <pc:docMkLst>
        <pc:docMk/>
      </pc:docMkLst>
      <pc:sldChg chg="addSp delSp modSp mod chgLayout">
        <pc:chgData name="DHANUSHYA RB" userId="7186c3aacdc35dad" providerId="LiveId" clId="{12C31C2A-657D-4177-B666-B1076FD9590E}" dt="2026-07-19T12:47:05.346" v="24" actId="122"/>
        <pc:sldMkLst>
          <pc:docMk/>
          <pc:sldMk cId="2035528881" sldId="258"/>
        </pc:sldMkLst>
        <pc:spChg chg="add mod">
          <ac:chgData name="DHANUSHYA RB" userId="7186c3aacdc35dad" providerId="LiveId" clId="{12C31C2A-657D-4177-B666-B1076FD9590E}" dt="2026-07-19T12:46:35.569" v="21" actId="1076"/>
          <ac:spMkLst>
            <pc:docMk/>
            <pc:sldMk cId="2035528881" sldId="258"/>
            <ac:spMk id="5" creationId="{F28C402D-5B4C-5EA1-8FB2-D23A5A338C05}"/>
          </ac:spMkLst>
        </pc:spChg>
        <pc:spChg chg="add mod ord">
          <ac:chgData name="DHANUSHYA RB" userId="7186c3aacdc35dad" providerId="LiveId" clId="{12C31C2A-657D-4177-B666-B1076FD9590E}" dt="2026-07-19T12:47:05.346" v="24" actId="122"/>
          <ac:spMkLst>
            <pc:docMk/>
            <pc:sldMk cId="2035528881" sldId="258"/>
            <ac:spMk id="6" creationId="{7DE0AF10-AB06-DDE7-71A7-ED35A2143198}"/>
          </ac:spMkLst>
        </pc:spChg>
      </pc:sldChg>
      <pc:sldChg chg="addSp delSp modSp mod">
        <pc:chgData name="DHANUSHYA RB" userId="7186c3aacdc35dad" providerId="LiveId" clId="{12C31C2A-657D-4177-B666-B1076FD9590E}" dt="2026-07-19T13:00:43.538" v="36" actId="22"/>
        <pc:sldMkLst>
          <pc:docMk/>
          <pc:sldMk cId="3945268629" sldId="259"/>
        </pc:sldMkLst>
        <pc:picChg chg="add">
          <ac:chgData name="DHANUSHYA RB" userId="7186c3aacdc35dad" providerId="LiveId" clId="{12C31C2A-657D-4177-B666-B1076FD9590E}" dt="2026-07-19T13:00:43.538" v="36" actId="22"/>
          <ac:picMkLst>
            <pc:docMk/>
            <pc:sldMk cId="3945268629" sldId="259"/>
            <ac:picMk id="8" creationId="{48879238-6861-EA2B-4B65-59AEFFC44792}"/>
          </ac:picMkLst>
        </pc:picChg>
      </pc:sldChg>
      <pc:sldChg chg="modSp mod">
        <pc:chgData name="DHANUSHYA RB" userId="7186c3aacdc35dad" providerId="LiveId" clId="{12C31C2A-657D-4177-B666-B1076FD9590E}" dt="2026-07-19T13:37:09.334" v="327" actId="255"/>
        <pc:sldMkLst>
          <pc:docMk/>
          <pc:sldMk cId="56868724" sldId="260"/>
        </pc:sldMkLst>
        <pc:spChg chg="mod">
          <ac:chgData name="DHANUSHYA RB" userId="7186c3aacdc35dad" providerId="LiveId" clId="{12C31C2A-657D-4177-B666-B1076FD9590E}" dt="2026-07-19T13:03:20.291" v="68" actId="1076"/>
          <ac:spMkLst>
            <pc:docMk/>
            <pc:sldMk cId="56868724" sldId="260"/>
            <ac:spMk id="2" creationId="{6A990623-0928-144E-C1DC-355AE97475BA}"/>
          </ac:spMkLst>
        </pc:spChg>
        <pc:spChg chg="mod">
          <ac:chgData name="DHANUSHYA RB" userId="7186c3aacdc35dad" providerId="LiveId" clId="{12C31C2A-657D-4177-B666-B1076FD9590E}" dt="2026-07-19T13:37:09.334" v="327" actId="255"/>
          <ac:spMkLst>
            <pc:docMk/>
            <pc:sldMk cId="56868724" sldId="260"/>
            <ac:spMk id="3" creationId="{D4F0699D-1D5C-7D4F-70FE-CE1D05353FA3}"/>
          </ac:spMkLst>
        </pc:spChg>
      </pc:sldChg>
      <pc:sldChg chg="modSp mod">
        <pc:chgData name="DHANUSHYA RB" userId="7186c3aacdc35dad" providerId="LiveId" clId="{12C31C2A-657D-4177-B666-B1076FD9590E}" dt="2026-07-23T05:09:06.240" v="347" actId="15"/>
        <pc:sldMkLst>
          <pc:docMk/>
          <pc:sldMk cId="3318772866" sldId="261"/>
        </pc:sldMkLst>
        <pc:spChg chg="mod">
          <ac:chgData name="DHANUSHYA RB" userId="7186c3aacdc35dad" providerId="LiveId" clId="{12C31C2A-657D-4177-B666-B1076FD9590E}" dt="2026-07-23T05:09:06.240" v="347" actId="15"/>
          <ac:spMkLst>
            <pc:docMk/>
            <pc:sldMk cId="3318772866" sldId="261"/>
            <ac:spMk id="3" creationId="{CC60CA9A-BA9D-A527-8F6A-292EE80A0337}"/>
          </ac:spMkLst>
        </pc:spChg>
      </pc:sldChg>
      <pc:sldChg chg="modSp mod">
        <pc:chgData name="DHANUSHYA RB" userId="7186c3aacdc35dad" providerId="LiveId" clId="{12C31C2A-657D-4177-B666-B1076FD9590E}" dt="2026-07-19T13:13:27.458" v="115" actId="255"/>
        <pc:sldMkLst>
          <pc:docMk/>
          <pc:sldMk cId="3072024567" sldId="262"/>
        </pc:sldMkLst>
        <pc:spChg chg="mod">
          <ac:chgData name="DHANUSHYA RB" userId="7186c3aacdc35dad" providerId="LiveId" clId="{12C31C2A-657D-4177-B666-B1076FD9590E}" dt="2026-07-19T13:12:02.307" v="100" actId="1076"/>
          <ac:spMkLst>
            <pc:docMk/>
            <pc:sldMk cId="3072024567" sldId="262"/>
            <ac:spMk id="2" creationId="{D308E9D3-E3EF-B3FC-3701-22203FE7EC01}"/>
          </ac:spMkLst>
        </pc:spChg>
        <pc:spChg chg="mod">
          <ac:chgData name="DHANUSHYA RB" userId="7186c3aacdc35dad" providerId="LiveId" clId="{12C31C2A-657D-4177-B666-B1076FD9590E}" dt="2026-07-19T13:13:27.458" v="115" actId="255"/>
          <ac:spMkLst>
            <pc:docMk/>
            <pc:sldMk cId="3072024567" sldId="262"/>
            <ac:spMk id="3" creationId="{ECA4ADBB-41EB-0D67-30E3-DBD8C7D67CF9}"/>
          </ac:spMkLst>
        </pc:spChg>
      </pc:sldChg>
      <pc:sldChg chg="modSp mod">
        <pc:chgData name="DHANUSHYA RB" userId="7186c3aacdc35dad" providerId="LiveId" clId="{12C31C2A-657D-4177-B666-B1076FD9590E}" dt="2026-07-23T05:11:21.563" v="356" actId="27636"/>
        <pc:sldMkLst>
          <pc:docMk/>
          <pc:sldMk cId="3374556327" sldId="263"/>
        </pc:sldMkLst>
        <pc:spChg chg="mod">
          <ac:chgData name="DHANUSHYA RB" userId="7186c3aacdc35dad" providerId="LiveId" clId="{12C31C2A-657D-4177-B666-B1076FD9590E}" dt="2026-07-23T05:11:21.563" v="356" actId="27636"/>
          <ac:spMkLst>
            <pc:docMk/>
            <pc:sldMk cId="3374556327" sldId="263"/>
            <ac:spMk id="3" creationId="{78B174C8-EA20-1938-0066-2F38C0680158}"/>
          </ac:spMkLst>
        </pc:spChg>
      </pc:sldChg>
      <pc:sldChg chg="modSp mod">
        <pc:chgData name="DHANUSHYA RB" userId="7186c3aacdc35dad" providerId="LiveId" clId="{12C31C2A-657D-4177-B666-B1076FD9590E}" dt="2026-07-19T13:18:28.892" v="133" actId="1076"/>
        <pc:sldMkLst>
          <pc:docMk/>
          <pc:sldMk cId="627092470" sldId="264"/>
        </pc:sldMkLst>
        <pc:spChg chg="mod">
          <ac:chgData name="DHANUSHYA RB" userId="7186c3aacdc35dad" providerId="LiveId" clId="{12C31C2A-657D-4177-B666-B1076FD9590E}" dt="2026-07-19T13:18:28.892" v="133" actId="1076"/>
          <ac:spMkLst>
            <pc:docMk/>
            <pc:sldMk cId="627092470" sldId="264"/>
            <ac:spMk id="3" creationId="{C8B8F97D-F473-55CC-FCC5-438AE0EEF4AD}"/>
          </ac:spMkLst>
        </pc:spChg>
      </pc:sldChg>
      <pc:sldChg chg="modSp mod">
        <pc:chgData name="DHANUSHYA RB" userId="7186c3aacdc35dad" providerId="LiveId" clId="{12C31C2A-657D-4177-B666-B1076FD9590E}" dt="2026-07-19T13:19:41.115" v="144" actId="1076"/>
        <pc:sldMkLst>
          <pc:docMk/>
          <pc:sldMk cId="1686503858" sldId="265"/>
        </pc:sldMkLst>
        <pc:spChg chg="mod">
          <ac:chgData name="DHANUSHYA RB" userId="7186c3aacdc35dad" providerId="LiveId" clId="{12C31C2A-657D-4177-B666-B1076FD9590E}" dt="2026-07-19T13:19:14.207" v="136"/>
          <ac:spMkLst>
            <pc:docMk/>
            <pc:sldMk cId="1686503858" sldId="265"/>
            <ac:spMk id="2" creationId="{005298C7-F994-8F58-46E3-A01FCA061968}"/>
          </ac:spMkLst>
        </pc:spChg>
        <pc:spChg chg="mod">
          <ac:chgData name="DHANUSHYA RB" userId="7186c3aacdc35dad" providerId="LiveId" clId="{12C31C2A-657D-4177-B666-B1076FD9590E}" dt="2026-07-19T13:19:41.115" v="144" actId="1076"/>
          <ac:spMkLst>
            <pc:docMk/>
            <pc:sldMk cId="1686503858" sldId="265"/>
            <ac:spMk id="3" creationId="{F5128D91-8247-9C62-3CD5-355D2369F84C}"/>
          </ac:spMkLst>
        </pc:spChg>
      </pc:sldChg>
      <pc:sldChg chg="modSp mod">
        <pc:chgData name="DHANUSHYA RB" userId="7186c3aacdc35dad" providerId="LiveId" clId="{12C31C2A-657D-4177-B666-B1076FD9590E}" dt="2026-07-19T13:22:26.008" v="184" actId="255"/>
        <pc:sldMkLst>
          <pc:docMk/>
          <pc:sldMk cId="1230920239" sldId="266"/>
        </pc:sldMkLst>
        <pc:spChg chg="mod">
          <ac:chgData name="DHANUSHYA RB" userId="7186c3aacdc35dad" providerId="LiveId" clId="{12C31C2A-657D-4177-B666-B1076FD9590E}" dt="2026-07-19T13:21:44.292" v="147"/>
          <ac:spMkLst>
            <pc:docMk/>
            <pc:sldMk cId="1230920239" sldId="266"/>
            <ac:spMk id="2" creationId="{741B7E3A-7F08-6883-0FC5-9BA6B2504316}"/>
          </ac:spMkLst>
        </pc:spChg>
        <pc:spChg chg="mod">
          <ac:chgData name="DHANUSHYA RB" userId="7186c3aacdc35dad" providerId="LiveId" clId="{12C31C2A-657D-4177-B666-B1076FD9590E}" dt="2026-07-19T13:22:26.008" v="184" actId="255"/>
          <ac:spMkLst>
            <pc:docMk/>
            <pc:sldMk cId="1230920239" sldId="266"/>
            <ac:spMk id="3" creationId="{DA2BA8EB-64E2-1D6B-51C6-EF1FDDFFA8E9}"/>
          </ac:spMkLst>
        </pc:spChg>
      </pc:sldChg>
      <pc:sldChg chg="modSp mod">
        <pc:chgData name="DHANUSHYA RB" userId="7186c3aacdc35dad" providerId="LiveId" clId="{12C31C2A-657D-4177-B666-B1076FD9590E}" dt="2026-07-23T05:14:58.762" v="364" actId="404"/>
        <pc:sldMkLst>
          <pc:docMk/>
          <pc:sldMk cId="2216851657" sldId="268"/>
        </pc:sldMkLst>
        <pc:spChg chg="mod">
          <ac:chgData name="DHANUSHYA RB" userId="7186c3aacdc35dad" providerId="LiveId" clId="{12C31C2A-657D-4177-B666-B1076FD9590E}" dt="2026-07-19T13:26:40.586" v="232" actId="1076"/>
          <ac:spMkLst>
            <pc:docMk/>
            <pc:sldMk cId="2216851657" sldId="268"/>
            <ac:spMk id="2" creationId="{EADEA976-FCE6-9F17-2057-37F11314357D}"/>
          </ac:spMkLst>
        </pc:spChg>
        <pc:spChg chg="mod">
          <ac:chgData name="DHANUSHYA RB" userId="7186c3aacdc35dad" providerId="LiveId" clId="{12C31C2A-657D-4177-B666-B1076FD9590E}" dt="2026-07-23T05:14:58.762" v="364" actId="404"/>
          <ac:spMkLst>
            <pc:docMk/>
            <pc:sldMk cId="2216851657" sldId="268"/>
            <ac:spMk id="3" creationId="{63E86F32-821E-2ECF-76E1-E9B5926389CA}"/>
          </ac:spMkLst>
        </pc:spChg>
      </pc:sldChg>
      <pc:sldChg chg="modSp mod">
        <pc:chgData name="DHANUSHYA RB" userId="7186c3aacdc35dad" providerId="LiveId" clId="{12C31C2A-657D-4177-B666-B1076FD9590E}" dt="2026-07-19T13:27:34.607" v="239" actId="5793"/>
        <pc:sldMkLst>
          <pc:docMk/>
          <pc:sldMk cId="398064724" sldId="269"/>
        </pc:sldMkLst>
        <pc:spChg chg="mod">
          <ac:chgData name="DHANUSHYA RB" userId="7186c3aacdc35dad" providerId="LiveId" clId="{12C31C2A-657D-4177-B666-B1076FD9590E}" dt="2026-07-19T13:27:34.607" v="239" actId="5793"/>
          <ac:spMkLst>
            <pc:docMk/>
            <pc:sldMk cId="398064724" sldId="269"/>
            <ac:spMk id="3" creationId="{2890CECB-D6D5-6705-EE5D-B41822BC4BED}"/>
          </ac:spMkLst>
        </pc:spChg>
      </pc:sldChg>
      <pc:sldChg chg="addSp delSp modSp mod">
        <pc:chgData name="DHANUSHYA RB" userId="7186c3aacdc35dad" providerId="LiveId" clId="{12C31C2A-657D-4177-B666-B1076FD9590E}" dt="2026-07-19T13:33:40.816" v="283" actId="113"/>
        <pc:sldMkLst>
          <pc:docMk/>
          <pc:sldMk cId="1968723931" sldId="270"/>
        </pc:sldMkLst>
        <pc:spChg chg="mod">
          <ac:chgData name="DHANUSHYA RB" userId="7186c3aacdc35dad" providerId="LiveId" clId="{12C31C2A-657D-4177-B666-B1076FD9590E}" dt="2026-07-19T13:33:40.816" v="283" actId="113"/>
          <ac:spMkLst>
            <pc:docMk/>
            <pc:sldMk cId="1968723931" sldId="270"/>
            <ac:spMk id="2" creationId="{C3C99995-A5BC-C5DF-B7FF-FA78C6BAEA9B}"/>
          </ac:spMkLst>
        </pc:spChg>
        <pc:spChg chg="add mod">
          <ac:chgData name="DHANUSHYA RB" userId="7186c3aacdc35dad" providerId="LiveId" clId="{12C31C2A-657D-4177-B666-B1076FD9590E}" dt="2026-07-19T13:33:34.426" v="282" actId="20577"/>
          <ac:spMkLst>
            <pc:docMk/>
            <pc:sldMk cId="1968723931" sldId="270"/>
            <ac:spMk id="5" creationId="{E9BA5327-9BBE-0377-FED8-07CD8852661B}"/>
          </ac:spMkLst>
        </pc:spChg>
      </pc:sldChg>
      <pc:sldChg chg="modSp mod">
        <pc:chgData name="DHANUSHYA RB" userId="7186c3aacdc35dad" providerId="LiveId" clId="{12C31C2A-657D-4177-B666-B1076FD9590E}" dt="2026-07-23T05:15:52.721" v="366" actId="403"/>
        <pc:sldMkLst>
          <pc:docMk/>
          <pc:sldMk cId="3101129261" sldId="271"/>
        </pc:sldMkLst>
        <pc:spChg chg="mod">
          <ac:chgData name="DHANUSHYA RB" userId="7186c3aacdc35dad" providerId="LiveId" clId="{12C31C2A-657D-4177-B666-B1076FD9590E}" dt="2026-07-19T13:34:09.545" v="287" actId="113"/>
          <ac:spMkLst>
            <pc:docMk/>
            <pc:sldMk cId="3101129261" sldId="271"/>
            <ac:spMk id="2" creationId="{6FCCA75A-3074-E69D-D3DA-A075D67BDF25}"/>
          </ac:spMkLst>
        </pc:spChg>
        <pc:spChg chg="mod">
          <ac:chgData name="DHANUSHYA RB" userId="7186c3aacdc35dad" providerId="LiveId" clId="{12C31C2A-657D-4177-B666-B1076FD9590E}" dt="2026-07-23T05:15:52.721" v="366" actId="403"/>
          <ac:spMkLst>
            <pc:docMk/>
            <pc:sldMk cId="3101129261" sldId="271"/>
            <ac:spMk id="3" creationId="{685DEE94-DBF0-AA70-A937-46D93A4BAF21}"/>
          </ac:spMkLst>
        </pc:spChg>
      </pc:sldChg>
      <pc:sldChg chg="addSp delSp modSp mod">
        <pc:chgData name="DHANUSHYA RB" userId="7186c3aacdc35dad" providerId="LiveId" clId="{12C31C2A-657D-4177-B666-B1076FD9590E}" dt="2026-07-19T13:04:06.786" v="72" actId="20577"/>
        <pc:sldMkLst>
          <pc:docMk/>
          <pc:sldMk cId="3716322427" sldId="272"/>
        </pc:sldMkLst>
        <pc:spChg chg="add del mod">
          <ac:chgData name="DHANUSHYA RB" userId="7186c3aacdc35dad" providerId="LiveId" clId="{12C31C2A-657D-4177-B666-B1076FD9590E}" dt="2026-07-19T13:04:06.786" v="72" actId="20577"/>
          <ac:spMkLst>
            <pc:docMk/>
            <pc:sldMk cId="3716322427" sldId="272"/>
            <ac:spMk id="2" creationId="{BDDAF4A4-8A19-17C8-6A32-8080719E0CA0}"/>
          </ac:spMkLst>
        </pc:spChg>
      </pc:sldChg>
      <pc:sldChg chg="modSp mod">
        <pc:chgData name="DHANUSHYA RB" userId="7186c3aacdc35dad" providerId="LiveId" clId="{12C31C2A-657D-4177-B666-B1076FD9590E}" dt="2026-07-19T13:31:52.069" v="247" actId="5793"/>
        <pc:sldMkLst>
          <pc:docMk/>
          <pc:sldMk cId="3329688227" sldId="275"/>
        </pc:sldMkLst>
        <pc:spChg chg="mod">
          <ac:chgData name="DHANUSHYA RB" userId="7186c3aacdc35dad" providerId="LiveId" clId="{12C31C2A-657D-4177-B666-B1076FD9590E}" dt="2026-07-19T13:31:42.557" v="242"/>
          <ac:spMkLst>
            <pc:docMk/>
            <pc:sldMk cId="3329688227" sldId="275"/>
            <ac:spMk id="2" creationId="{C922842D-DCA5-031F-17F5-F397AF6CCC29}"/>
          </ac:spMkLst>
        </pc:spChg>
        <pc:spChg chg="mod">
          <ac:chgData name="DHANUSHYA RB" userId="7186c3aacdc35dad" providerId="LiveId" clId="{12C31C2A-657D-4177-B666-B1076FD9590E}" dt="2026-07-19T13:31:52.069" v="247" actId="5793"/>
          <ac:spMkLst>
            <pc:docMk/>
            <pc:sldMk cId="3329688227" sldId="275"/>
            <ac:spMk id="3" creationId="{38FBA455-54C6-F0EF-F21C-491FF7150134}"/>
          </ac:spMkLst>
        </pc:spChg>
      </pc:sldChg>
      <pc:sldChg chg="addSp delSp modSp mod">
        <pc:chgData name="DHANUSHYA RB" userId="7186c3aacdc35dad" providerId="LiveId" clId="{12C31C2A-657D-4177-B666-B1076FD9590E}" dt="2026-07-19T13:09:03.970" v="91" actId="14100"/>
        <pc:sldMkLst>
          <pc:docMk/>
          <pc:sldMk cId="3104667860" sldId="276"/>
        </pc:sldMkLst>
        <pc:picChg chg="add mod ord modCrop">
          <ac:chgData name="DHANUSHYA RB" userId="7186c3aacdc35dad" providerId="LiveId" clId="{12C31C2A-657D-4177-B666-B1076FD9590E}" dt="2026-07-19T13:09:03.970" v="91" actId="14100"/>
          <ac:picMkLst>
            <pc:docMk/>
            <pc:sldMk cId="3104667860" sldId="276"/>
            <ac:picMk id="5" creationId="{A284AF95-286B-8BDF-DF31-E3B635CC8F5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DBD4-402B-B0C9-D37D-E11CD94C640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4C1E3B51-12F1-7EF1-EA15-B9B666A10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BF7F69BF-5DA3-4DAA-5D61-0AE98CA80C3F}"/>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5" name="Footer Placeholder 4">
            <a:extLst>
              <a:ext uri="{FF2B5EF4-FFF2-40B4-BE49-F238E27FC236}">
                <a16:creationId xmlns:a16="http://schemas.microsoft.com/office/drawing/2014/main" id="{C0F96FA4-4CA0-35D7-7A2A-0DA558E847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BFFB4F-FB74-02A9-DBA3-F48100C99DB1}"/>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368878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876D-FA41-31BD-D008-9579A81550B8}"/>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08289931-6BA2-93B8-3BED-DC275BE31FC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2C11946-354A-72ED-F408-F06AC59DE848}"/>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5" name="Footer Placeholder 4">
            <a:extLst>
              <a:ext uri="{FF2B5EF4-FFF2-40B4-BE49-F238E27FC236}">
                <a16:creationId xmlns:a16="http://schemas.microsoft.com/office/drawing/2014/main" id="{8D9F106D-1D8E-5319-8E11-DBC91426E3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3A8F18-86F3-53AB-4508-51B70CADE903}"/>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3669878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D011-9EFD-73BF-9B9C-B9D383A6CF8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3498B43A-36E1-8D6E-220A-BAA7AC6C6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977A3A3-D3B3-7775-6C92-0CD17312AE14}"/>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5" name="Footer Placeholder 4">
            <a:extLst>
              <a:ext uri="{FF2B5EF4-FFF2-40B4-BE49-F238E27FC236}">
                <a16:creationId xmlns:a16="http://schemas.microsoft.com/office/drawing/2014/main" id="{B64CE0F2-3439-2DDE-B9A0-1C45DB5D2C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61D7A9-6392-9D3C-C70D-B79A210B8E68}"/>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290130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4A9DF-9144-D046-AAE3-B08498202BFB}"/>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490D51DD-1896-49D4-2802-506BDF57B75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9D5D1C59-36C6-450D-56C9-5ECA88D48A5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C7221B47-735F-09F3-334C-C1C475216587}"/>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6" name="Footer Placeholder 5">
            <a:extLst>
              <a:ext uri="{FF2B5EF4-FFF2-40B4-BE49-F238E27FC236}">
                <a16:creationId xmlns:a16="http://schemas.microsoft.com/office/drawing/2014/main" id="{E8298EAD-2D88-FA26-8DD7-4572CD494D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EE22BD-0CA5-B0C4-B3FB-A8BFFD945100}"/>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99247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21B06-9B3A-5846-708A-0EA5693A962A}"/>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FFE19E4D-54DB-84EC-E0E4-8966E65803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2200B8C-1571-AC23-AC90-0E81EE2CBAC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C7BD1EA3-956A-D899-26CF-E24D81783C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A00772D-BC40-ACA3-5178-F433A662735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AB943C77-74AE-AEC9-E070-8B9C4C465B87}"/>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8" name="Footer Placeholder 7">
            <a:extLst>
              <a:ext uri="{FF2B5EF4-FFF2-40B4-BE49-F238E27FC236}">
                <a16:creationId xmlns:a16="http://schemas.microsoft.com/office/drawing/2014/main" id="{0BD9F8D2-D34B-42FF-FC13-DC10A421BC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2644F3-88C3-5011-6C93-9FC60B5CB87C}"/>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1258496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5129F-097D-BAEB-E314-14D8BA52BF67}"/>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616A27B8-6C9B-7EDE-4EA1-B1C04AE11A63}"/>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4" name="Footer Placeholder 3">
            <a:extLst>
              <a:ext uri="{FF2B5EF4-FFF2-40B4-BE49-F238E27FC236}">
                <a16:creationId xmlns:a16="http://schemas.microsoft.com/office/drawing/2014/main" id="{571C74D4-E4C3-AD97-0961-D7136B447D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21FEA0-D103-116C-E70C-0C116C775EE3}"/>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2045401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61EEE-4176-518F-AA33-1C51559C486B}"/>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3" name="Footer Placeholder 2">
            <a:extLst>
              <a:ext uri="{FF2B5EF4-FFF2-40B4-BE49-F238E27FC236}">
                <a16:creationId xmlns:a16="http://schemas.microsoft.com/office/drawing/2014/main" id="{E542C0C7-054F-6E31-031D-29248EF7FE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1D3EB8-BE9C-BADB-0AB2-599FACEA24BD}"/>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4070476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5B5E-E4B7-DFFF-6141-4AACF4F22C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8227B799-F1CA-B7F8-2048-237468D028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3B517ED6-C08B-6EC9-5C41-83DBE2615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F7EB134-5D97-4283-6098-C9DFC5E0E5BB}"/>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6" name="Footer Placeholder 5">
            <a:extLst>
              <a:ext uri="{FF2B5EF4-FFF2-40B4-BE49-F238E27FC236}">
                <a16:creationId xmlns:a16="http://schemas.microsoft.com/office/drawing/2014/main" id="{047AE14A-6077-78DA-1772-741CADB0BE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E59854-B891-EBD6-5CCC-E0565C9FE2C0}"/>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2332931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43D0C-F21F-87C9-EA85-98EBDE3D9F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3C8A2329-5A34-EA78-344C-B8B625C042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E6FAA7-9ADE-E826-24E8-41FD57C02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18BE8B-52FC-AE03-4070-848E1CE571B3}"/>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6" name="Footer Placeholder 5">
            <a:extLst>
              <a:ext uri="{FF2B5EF4-FFF2-40B4-BE49-F238E27FC236}">
                <a16:creationId xmlns:a16="http://schemas.microsoft.com/office/drawing/2014/main" id="{B183C7C6-7A58-8EAD-7714-B4FF4BF89D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FDEC24-C28F-56D7-CD93-1BDC487B069D}"/>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291147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F96ED-372D-81D0-B2CD-FA55B7F41298}"/>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C845C0B3-D5B8-4EC9-FD7B-3BC1BE3FD48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AA9B5FC-2F3E-DA25-8B95-7217B3336BD9}"/>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5" name="Footer Placeholder 4">
            <a:extLst>
              <a:ext uri="{FF2B5EF4-FFF2-40B4-BE49-F238E27FC236}">
                <a16:creationId xmlns:a16="http://schemas.microsoft.com/office/drawing/2014/main" id="{7DCC999E-BBA5-1C28-6017-449B7AE8EC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DE92D4-66B5-8C95-D09C-56E38720C77D}"/>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862821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8FF2F8-0DAE-E637-268C-90746C49A56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FAE8B85D-6214-3566-EDB3-52196090868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595F419-3C5A-5FD5-51AE-C4A58F9D42D0}"/>
              </a:ext>
            </a:extLst>
          </p:cNvPr>
          <p:cNvSpPr>
            <a:spLocks noGrp="1"/>
          </p:cNvSpPr>
          <p:nvPr>
            <p:ph type="dt" sz="half" idx="10"/>
          </p:nvPr>
        </p:nvSpPr>
        <p:spPr/>
        <p:txBody>
          <a:bodyPr/>
          <a:lstStyle/>
          <a:p>
            <a:fld id="{A1E9433A-C890-4B62-A885-22A8C05F1284}" type="datetimeFigureOut">
              <a:rPr lang="en-IN" smtClean="0"/>
              <a:t>23-07-2026</a:t>
            </a:fld>
            <a:endParaRPr lang="en-IN"/>
          </a:p>
        </p:txBody>
      </p:sp>
      <p:sp>
        <p:nvSpPr>
          <p:cNvPr id="5" name="Footer Placeholder 4">
            <a:extLst>
              <a:ext uri="{FF2B5EF4-FFF2-40B4-BE49-F238E27FC236}">
                <a16:creationId xmlns:a16="http://schemas.microsoft.com/office/drawing/2014/main" id="{8405B9A9-65A1-1E5C-480C-AEA34854A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8E2DF0-0293-91AE-E1EB-61955CB78B11}"/>
              </a:ext>
            </a:extLst>
          </p:cNvPr>
          <p:cNvSpPr>
            <a:spLocks noGrp="1"/>
          </p:cNvSpPr>
          <p:nvPr>
            <p:ph type="sldNum" sz="quarter" idx="12"/>
          </p:nvPr>
        </p:nvSpPr>
        <p:spPr/>
        <p:txBody>
          <a:bodyPr/>
          <a:lstStyle/>
          <a:p>
            <a:fld id="{622A8C61-6F56-4201-83F0-39B374B746FA}" type="slidenum">
              <a:rPr lang="en-IN" smtClean="0"/>
              <a:t>‹#›</a:t>
            </a:fld>
            <a:endParaRPr lang="en-IN"/>
          </a:p>
        </p:txBody>
      </p:sp>
    </p:spTree>
    <p:extLst>
      <p:ext uri="{BB962C8B-B14F-4D97-AF65-F5344CB8AC3E}">
        <p14:creationId xmlns:p14="http://schemas.microsoft.com/office/powerpoint/2010/main" val="4265746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0258B0-5317-9246-DDBA-B72715E597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694A2561-4877-36FA-9D63-3AD9758F9F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CBB3C97-AB70-8FD0-0E8B-F676FCF718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E9433A-C890-4B62-A885-22A8C05F1284}" type="datetimeFigureOut">
              <a:rPr lang="en-IN" smtClean="0"/>
              <a:t>23-07-2026</a:t>
            </a:fld>
            <a:endParaRPr lang="en-IN"/>
          </a:p>
        </p:txBody>
      </p:sp>
      <p:sp>
        <p:nvSpPr>
          <p:cNvPr id="5" name="Footer Placeholder 4">
            <a:extLst>
              <a:ext uri="{FF2B5EF4-FFF2-40B4-BE49-F238E27FC236}">
                <a16:creationId xmlns:a16="http://schemas.microsoft.com/office/drawing/2014/main" id="{B73B8F50-4B86-51EF-D3AB-55E373F6AA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1FE43AF-83A7-B611-F795-057505DC33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2A8C61-6F56-4201-83F0-39B374B746FA}" type="slidenum">
              <a:rPr lang="en-IN" smtClean="0"/>
              <a:t>‹#›</a:t>
            </a:fld>
            <a:endParaRPr lang="en-IN"/>
          </a:p>
        </p:txBody>
      </p:sp>
    </p:spTree>
    <p:extLst>
      <p:ext uri="{BB962C8B-B14F-4D97-AF65-F5344CB8AC3E}">
        <p14:creationId xmlns:p14="http://schemas.microsoft.com/office/powerpoint/2010/main" val="2081484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DAF9-3157-6315-863B-B1A54A241B54}"/>
              </a:ext>
            </a:extLst>
          </p:cNvPr>
          <p:cNvSpPr>
            <a:spLocks noGrp="1"/>
          </p:cNvSpPr>
          <p:nvPr>
            <p:ph type="ctrTitle"/>
          </p:nvPr>
        </p:nvSpPr>
        <p:spPr>
          <a:xfrm>
            <a:off x="1524000" y="1854201"/>
            <a:ext cx="9144000" cy="1125992"/>
          </a:xfrm>
        </p:spPr>
        <p:txBody>
          <a:bodyPr>
            <a:normAutofit/>
          </a:bodyPr>
          <a:lstStyle/>
          <a:p>
            <a:r>
              <a:rPr lang="en-US" sz="4800" b="1" dirty="0">
                <a:latin typeface="Times New Roman" panose="02020603050405020304" pitchFamily="18" charset="0"/>
                <a:cs typeface="Times New Roman" panose="02020603050405020304" pitchFamily="18" charset="0"/>
              </a:rPr>
              <a:t>TECHNICAL</a:t>
            </a:r>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PRESENTATION</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706123C-0E3D-BAE4-9C3F-2766DAA151D4}"/>
              </a:ext>
            </a:extLst>
          </p:cNvPr>
          <p:cNvSpPr>
            <a:spLocks noGrp="1"/>
          </p:cNvSpPr>
          <p:nvPr>
            <p:ph type="subTitle" idx="1"/>
          </p:nvPr>
        </p:nvSpPr>
        <p:spPr>
          <a:xfrm>
            <a:off x="1524000" y="3309257"/>
            <a:ext cx="9144000" cy="1948543"/>
          </a:xfrm>
        </p:spPr>
        <p:txBody>
          <a:bodyPr>
            <a:normAutofit/>
          </a:bodyPr>
          <a:lstStyle/>
          <a:p>
            <a:r>
              <a:rPr lang="en-US" sz="3200" b="1" dirty="0">
                <a:latin typeface="Times New Roman" panose="02020603050405020304" pitchFamily="18" charset="0"/>
                <a:cs typeface="Times New Roman" panose="02020603050405020304" pitchFamily="18" charset="0"/>
              </a:rPr>
              <a:t>CO1 AT 3</a:t>
            </a:r>
          </a:p>
          <a:p>
            <a:r>
              <a:rPr lang="en-US" sz="2800" dirty="0" err="1">
                <a:latin typeface="Times New Roman" panose="02020603050405020304" pitchFamily="18" charset="0"/>
                <a:cs typeface="Times New Roman" panose="02020603050405020304" pitchFamily="18" charset="0"/>
              </a:rPr>
              <a:t>Dhanushya</a:t>
            </a:r>
            <a:r>
              <a:rPr lang="en-US" sz="2800" dirty="0">
                <a:latin typeface="Times New Roman" panose="02020603050405020304" pitchFamily="18" charset="0"/>
                <a:cs typeface="Times New Roman" panose="02020603050405020304" pitchFamily="18" charset="0"/>
              </a:rPr>
              <a:t> RB (192565033)</a:t>
            </a:r>
          </a:p>
          <a:p>
            <a:r>
              <a:rPr lang="en-US" sz="2800" dirty="0">
                <a:latin typeface="Times New Roman" panose="02020603050405020304" pitchFamily="18" charset="0"/>
                <a:cs typeface="Times New Roman" panose="02020603050405020304" pitchFamily="18" charset="0"/>
              </a:rPr>
              <a:t>CSA0504 DATABASE MANAGEMENT SYSTEMS</a:t>
            </a:r>
            <a:endParaRPr lang="en-IN" sz="2800"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6914F64D-6EEC-FB2E-D721-5D18710EC7D6}"/>
              </a:ext>
            </a:extLst>
          </p:cNvPr>
          <p:cNvGrpSpPr>
            <a:grpSpLocks noChangeAspect="1"/>
          </p:cNvGrpSpPr>
          <p:nvPr/>
        </p:nvGrpSpPr>
        <p:grpSpPr>
          <a:xfrm>
            <a:off x="642257" y="426805"/>
            <a:ext cx="10646230" cy="757476"/>
            <a:chOff x="-2386222" y="447199"/>
            <a:chExt cx="19418300" cy="2503170"/>
          </a:xfrm>
        </p:grpSpPr>
        <p:sp>
          <p:nvSpPr>
            <p:cNvPr id="6" name="Freeform 19">
              <a:extLst>
                <a:ext uri="{FF2B5EF4-FFF2-40B4-BE49-F238E27FC236}">
                  <a16:creationId xmlns:a16="http://schemas.microsoft.com/office/drawing/2014/main" id="{B49ED621-CC05-0539-1490-8B4D96782CCE}"/>
                </a:ext>
              </a:extLst>
            </p:cNvPr>
            <p:cNvSpPr/>
            <p:nvPr/>
          </p:nvSpPr>
          <p:spPr>
            <a:xfrm>
              <a:off x="-2386222" y="447199"/>
              <a:ext cx="19418300" cy="2503170"/>
            </a:xfrm>
            <a:custGeom>
              <a:avLst/>
              <a:gdLst/>
              <a:ahLst/>
              <a:cxnLst/>
              <a:rect l="l" t="t" r="r" b="b"/>
              <a:pathLst>
                <a:path w="19418300" h="2503170">
                  <a:moveTo>
                    <a:pt x="0" y="0"/>
                  </a:moveTo>
                  <a:lnTo>
                    <a:pt x="19418300" y="0"/>
                  </a:lnTo>
                  <a:lnTo>
                    <a:pt x="19418300" y="2503170"/>
                  </a:lnTo>
                  <a:lnTo>
                    <a:pt x="0" y="2503170"/>
                  </a:lnTo>
                  <a:lnTo>
                    <a:pt x="0" y="0"/>
                  </a:lnTo>
                  <a:close/>
                </a:path>
              </a:pathLst>
            </a:custGeom>
            <a:blipFill>
              <a:blip r:embed="rId2"/>
              <a:stretch>
                <a:fillRect b="1"/>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grpSp>
    </p:spTree>
    <p:extLst>
      <p:ext uri="{BB962C8B-B14F-4D97-AF65-F5344CB8AC3E}">
        <p14:creationId xmlns:p14="http://schemas.microsoft.com/office/powerpoint/2010/main" val="41162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B246-2DC0-B3F7-DDE7-382CD2331564}"/>
              </a:ext>
            </a:extLst>
          </p:cNvPr>
          <p:cNvSpPr>
            <a:spLocks noGrp="1"/>
          </p:cNvSpPr>
          <p:nvPr>
            <p:ph type="title"/>
          </p:nvPr>
        </p:nvSpPr>
        <p:spPr>
          <a:xfrm>
            <a:off x="838200" y="365125"/>
            <a:ext cx="10515600" cy="5480504"/>
          </a:xfrm>
        </p:spPr>
        <p:txBody>
          <a:bodyPr>
            <a:normAutofit/>
          </a:bodyPr>
          <a:lstStyle/>
          <a:p>
            <a:r>
              <a:rPr lang="en-IN" sz="5400" dirty="0">
                <a:latin typeface="Times New Roman" panose="02020603050405020304" pitchFamily="18" charset="0"/>
                <a:cs typeface="Times New Roman" panose="02020603050405020304" pitchFamily="18" charset="0"/>
              </a:rPr>
              <a:t>Q1. Create and present an ER Diagram for an Online Library System, explaining each component clearly.</a:t>
            </a:r>
          </a:p>
        </p:txBody>
      </p:sp>
    </p:spTree>
    <p:extLst>
      <p:ext uri="{BB962C8B-B14F-4D97-AF65-F5344CB8AC3E}">
        <p14:creationId xmlns:p14="http://schemas.microsoft.com/office/powerpoint/2010/main" val="1129778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8C402D-5B4C-5EA1-8FB2-D23A5A338C05}"/>
              </a:ext>
            </a:extLst>
          </p:cNvPr>
          <p:cNvSpPr txBox="1"/>
          <p:nvPr/>
        </p:nvSpPr>
        <p:spPr>
          <a:xfrm>
            <a:off x="1426464" y="1471232"/>
            <a:ext cx="8172450" cy="5016758"/>
          </a:xfrm>
          <a:prstGeom prst="rect">
            <a:avLst/>
          </a:prstGeom>
          <a:noFill/>
        </p:spPr>
        <p:txBody>
          <a:bodyPr wrap="square">
            <a:spAutoFit/>
          </a:bodyPr>
          <a:lstStyle/>
          <a:p>
            <a:pPr>
              <a:buNone/>
            </a:pPr>
            <a:r>
              <a:rPr lang="en-IN" sz="2000" dirty="0"/>
              <a:t>	The Online Library Management System is designed to automate library operations by managing books, users, borrowing, reservations, and librarians. An Entity Relationship (ER) Diagram represents the database structure by identifying entities, their attributes, and the relationships among them.</a:t>
            </a:r>
          </a:p>
          <a:p>
            <a:pPr>
              <a:buNone/>
            </a:pPr>
            <a:r>
              <a:rPr lang="en-IN" sz="2000" b="1" dirty="0"/>
              <a:t>Main Entities</a:t>
            </a:r>
          </a:p>
          <a:p>
            <a:pPr lvl="2">
              <a:buFont typeface="Arial" panose="020B0604020202020204" pitchFamily="34" charset="0"/>
              <a:buChar char="•"/>
            </a:pPr>
            <a:r>
              <a:rPr lang="en-IN" sz="2000" dirty="0"/>
              <a:t>👤 User </a:t>
            </a:r>
          </a:p>
          <a:p>
            <a:pPr lvl="2">
              <a:buFont typeface="Arial" panose="020B0604020202020204" pitchFamily="34" charset="0"/>
              <a:buChar char="•"/>
            </a:pPr>
            <a:r>
              <a:rPr lang="en-IN" sz="2000" dirty="0"/>
              <a:t>📚 Book </a:t>
            </a:r>
          </a:p>
          <a:p>
            <a:pPr lvl="2">
              <a:buFont typeface="Arial" panose="020B0604020202020204" pitchFamily="34" charset="0"/>
              <a:buChar char="•"/>
            </a:pPr>
            <a:r>
              <a:rPr lang="en-IN" sz="2000" dirty="0"/>
              <a:t>📖 Borrow Transaction </a:t>
            </a:r>
          </a:p>
          <a:p>
            <a:pPr lvl="2">
              <a:buFont typeface="Arial" panose="020B0604020202020204" pitchFamily="34" charset="0"/>
              <a:buChar char="•"/>
            </a:pPr>
            <a:r>
              <a:rPr lang="en-IN" sz="2000" dirty="0"/>
              <a:t>🔖 Reservation </a:t>
            </a:r>
          </a:p>
          <a:p>
            <a:pPr lvl="2">
              <a:buFont typeface="Arial" panose="020B0604020202020204" pitchFamily="34" charset="0"/>
              <a:buChar char="•"/>
            </a:pPr>
            <a:r>
              <a:rPr lang="en-IN" sz="2000" dirty="0"/>
              <a:t>👨‍💼 Librarian </a:t>
            </a:r>
          </a:p>
          <a:p>
            <a:pPr>
              <a:buNone/>
            </a:pPr>
            <a:r>
              <a:rPr lang="en-IN" sz="2000" b="1" dirty="0"/>
              <a:t>Purpose</a:t>
            </a:r>
          </a:p>
          <a:p>
            <a:pPr lvl="1">
              <a:buFont typeface="Arial" panose="020B0604020202020204" pitchFamily="34" charset="0"/>
              <a:buChar char="•"/>
            </a:pPr>
            <a:r>
              <a:rPr lang="en-IN" sz="2000" dirty="0"/>
              <a:t>Organizes library data efficiently. </a:t>
            </a:r>
          </a:p>
          <a:p>
            <a:pPr lvl="1">
              <a:buFont typeface="Arial" panose="020B0604020202020204" pitchFamily="34" charset="0"/>
              <a:buChar char="•"/>
            </a:pPr>
            <a:r>
              <a:rPr lang="en-IN" sz="2000" dirty="0"/>
              <a:t>Reduces manual record keeping. </a:t>
            </a:r>
          </a:p>
          <a:p>
            <a:pPr lvl="1">
              <a:buFont typeface="Arial" panose="020B0604020202020204" pitchFamily="34" charset="0"/>
              <a:buChar char="•"/>
            </a:pPr>
            <a:r>
              <a:rPr lang="en-IN" sz="2000" dirty="0"/>
              <a:t>Ensures proper relationship between books and users. </a:t>
            </a:r>
          </a:p>
          <a:p>
            <a:pPr lvl="1">
              <a:buFont typeface="Arial" panose="020B0604020202020204" pitchFamily="34" charset="0"/>
              <a:buChar char="•"/>
            </a:pPr>
            <a:r>
              <a:rPr lang="en-IN" sz="2000" dirty="0"/>
              <a:t>Supports online issue, return, and reservation of books.</a:t>
            </a:r>
          </a:p>
        </p:txBody>
      </p:sp>
      <p:sp>
        <p:nvSpPr>
          <p:cNvPr id="6" name="Title 5">
            <a:extLst>
              <a:ext uri="{FF2B5EF4-FFF2-40B4-BE49-F238E27FC236}">
                <a16:creationId xmlns:a16="http://schemas.microsoft.com/office/drawing/2014/main" id="{7DE0AF10-AB06-DDE7-71A7-ED35A2143198}"/>
              </a:ext>
            </a:extLst>
          </p:cNvPr>
          <p:cNvSpPr>
            <a:spLocks noGrp="1"/>
          </p:cNvSpPr>
          <p:nvPr>
            <p:ph type="title"/>
          </p:nvPr>
        </p:nvSpPr>
        <p:spPr>
          <a:xfrm>
            <a:off x="618744" y="145669"/>
            <a:ext cx="10515600" cy="1325563"/>
          </a:xfrm>
        </p:spPr>
        <p:txBody>
          <a:bodyPr/>
          <a:lstStyle/>
          <a:p>
            <a:pPr algn="ctr"/>
            <a:r>
              <a:rPr lang="en-IN" b="1" dirty="0"/>
              <a:t>ER Diagram for an Online Library Management System</a:t>
            </a:r>
          </a:p>
        </p:txBody>
      </p:sp>
    </p:spTree>
    <p:extLst>
      <p:ext uri="{BB962C8B-B14F-4D97-AF65-F5344CB8AC3E}">
        <p14:creationId xmlns:p14="http://schemas.microsoft.com/office/powerpoint/2010/main" val="2035528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726B-AA33-31B6-4B21-008B1E02D95B}"/>
              </a:ext>
            </a:extLst>
          </p:cNvPr>
          <p:cNvSpPr>
            <a:spLocks noGrp="1"/>
          </p:cNvSpPr>
          <p:nvPr>
            <p:ph type="title"/>
          </p:nvPr>
        </p:nvSpPr>
        <p:spPr>
          <a:xfrm>
            <a:off x="838200" y="365126"/>
            <a:ext cx="10515600" cy="679904"/>
          </a:xfrm>
        </p:spPr>
        <p:txBody>
          <a:bodyPr>
            <a:normAutofit fontScale="90000"/>
          </a:bodyPr>
          <a:lstStyle/>
          <a:p>
            <a:r>
              <a:rPr lang="en-IN" dirty="0"/>
              <a:t>ER Diagram</a:t>
            </a:r>
          </a:p>
        </p:txBody>
      </p:sp>
      <p:pic>
        <p:nvPicPr>
          <p:cNvPr id="8" name="Picture 7">
            <a:extLst>
              <a:ext uri="{FF2B5EF4-FFF2-40B4-BE49-F238E27FC236}">
                <a16:creationId xmlns:a16="http://schemas.microsoft.com/office/drawing/2014/main" id="{48879238-6861-EA2B-4B65-59AEFFC44792}"/>
              </a:ext>
            </a:extLst>
          </p:cNvPr>
          <p:cNvPicPr>
            <a:picLocks noChangeAspect="1"/>
          </p:cNvPicPr>
          <p:nvPr/>
        </p:nvPicPr>
        <p:blipFill>
          <a:blip r:embed="rId2"/>
          <a:stretch>
            <a:fillRect/>
          </a:stretch>
        </p:blipFill>
        <p:spPr>
          <a:xfrm>
            <a:off x="1238250" y="1514475"/>
            <a:ext cx="9715500" cy="3829050"/>
          </a:xfrm>
          <a:prstGeom prst="rect">
            <a:avLst/>
          </a:prstGeom>
        </p:spPr>
      </p:pic>
    </p:spTree>
    <p:extLst>
      <p:ext uri="{BB962C8B-B14F-4D97-AF65-F5344CB8AC3E}">
        <p14:creationId xmlns:p14="http://schemas.microsoft.com/office/powerpoint/2010/main" val="394526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0623-0928-144E-C1DC-355AE97475BA}"/>
              </a:ext>
            </a:extLst>
          </p:cNvPr>
          <p:cNvSpPr>
            <a:spLocks noGrp="1"/>
          </p:cNvSpPr>
          <p:nvPr>
            <p:ph type="title"/>
          </p:nvPr>
        </p:nvSpPr>
        <p:spPr>
          <a:xfrm>
            <a:off x="368807" y="0"/>
            <a:ext cx="10646229" cy="1050018"/>
          </a:xfrm>
        </p:spPr>
        <p:txBody>
          <a:bodyPr/>
          <a:lstStyle/>
          <a:p>
            <a:r>
              <a:rPr lang="en-US" dirty="0">
                <a:latin typeface="Times New Roman" panose="02020603050405020304" pitchFamily="18" charset="0"/>
                <a:cs typeface="Times New Roman" panose="02020603050405020304" pitchFamily="18" charset="0"/>
              </a:rPr>
              <a:t>Explanation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F0699D-1D5C-7D4F-70FE-CE1D05353FA3}"/>
              </a:ext>
            </a:extLst>
          </p:cNvPr>
          <p:cNvSpPr>
            <a:spLocks noGrp="1"/>
          </p:cNvSpPr>
          <p:nvPr>
            <p:ph idx="1"/>
          </p:nvPr>
        </p:nvSpPr>
        <p:spPr>
          <a:xfrm>
            <a:off x="771579" y="1012371"/>
            <a:ext cx="10243457" cy="4833257"/>
          </a:xfrm>
        </p:spPr>
        <p:txBody>
          <a:bodyPr>
            <a:noAutofit/>
          </a:bodyPr>
          <a:lstStyle/>
          <a:p>
            <a:pPr marL="0" indent="0">
              <a:lnSpc>
                <a:spcPct val="100000"/>
              </a:lnSpc>
              <a:buNone/>
            </a:pPr>
            <a:r>
              <a:rPr lang="en-IN" sz="2000" b="1" dirty="0"/>
              <a:t>1. User Entity</a:t>
            </a:r>
          </a:p>
          <a:p>
            <a:pPr>
              <a:lnSpc>
                <a:spcPct val="100000"/>
              </a:lnSpc>
            </a:pPr>
            <a:r>
              <a:rPr lang="en-IN" sz="2000" dirty="0"/>
              <a:t>Stores member information such as User ID, Name, Email, and Phone Number. A user can borrow and reserve multiple books.</a:t>
            </a:r>
          </a:p>
          <a:p>
            <a:pPr marL="0" indent="0">
              <a:lnSpc>
                <a:spcPct val="100000"/>
              </a:lnSpc>
              <a:buNone/>
            </a:pPr>
            <a:r>
              <a:rPr lang="en-IN" sz="2000" b="1" dirty="0"/>
              <a:t>2. Book Entity</a:t>
            </a:r>
          </a:p>
          <a:p>
            <a:pPr>
              <a:lnSpc>
                <a:spcPct val="100000"/>
              </a:lnSpc>
            </a:pPr>
            <a:r>
              <a:rPr lang="en-IN" sz="2000" dirty="0"/>
              <a:t>Contains details of every book including Book ID, Title, Author, ISBN, Category, and Availability Status.</a:t>
            </a:r>
          </a:p>
          <a:p>
            <a:pPr marL="0" indent="0">
              <a:lnSpc>
                <a:spcPct val="100000"/>
              </a:lnSpc>
              <a:buNone/>
            </a:pPr>
            <a:r>
              <a:rPr lang="en-IN" sz="2000" b="1" dirty="0"/>
              <a:t>3. Borrow Transaction</a:t>
            </a:r>
          </a:p>
          <a:p>
            <a:pPr>
              <a:lnSpc>
                <a:spcPct val="100000"/>
              </a:lnSpc>
            </a:pPr>
            <a:r>
              <a:rPr lang="en-IN" sz="2000" dirty="0"/>
              <a:t>Acts as a bridge between User and Book. It stores Issue Date, Return Date, and Fine details.</a:t>
            </a:r>
          </a:p>
          <a:p>
            <a:pPr marL="0" indent="0">
              <a:lnSpc>
                <a:spcPct val="100000"/>
              </a:lnSpc>
              <a:buNone/>
            </a:pPr>
            <a:r>
              <a:rPr lang="en-IN" sz="2000" b="1" dirty="0"/>
              <a:t>4. Reservation</a:t>
            </a:r>
          </a:p>
          <a:p>
            <a:pPr>
              <a:lnSpc>
                <a:spcPct val="100000"/>
              </a:lnSpc>
            </a:pPr>
            <a:r>
              <a:rPr lang="en-IN" sz="2000" dirty="0"/>
              <a:t>Keeps track of books reserved by users when they are unavailable.</a:t>
            </a:r>
          </a:p>
          <a:p>
            <a:pPr marL="0" indent="0">
              <a:lnSpc>
                <a:spcPct val="100000"/>
              </a:lnSpc>
              <a:buNone/>
            </a:pPr>
            <a:r>
              <a:rPr lang="en-IN" sz="2000" b="1" dirty="0"/>
              <a:t>5. Librarian</a:t>
            </a:r>
          </a:p>
          <a:p>
            <a:pPr>
              <a:lnSpc>
                <a:spcPct val="100000"/>
              </a:lnSpc>
            </a:pPr>
            <a:r>
              <a:rPr lang="en-IN" sz="2000" dirty="0"/>
              <a:t>Maintains the library database, updates book records, and manages issue/return operations.</a:t>
            </a:r>
          </a:p>
          <a:p>
            <a:pPr marL="0" indent="0">
              <a:lnSpc>
                <a:spcPct val="100000"/>
              </a:lnSpc>
              <a:buNone/>
            </a:pPr>
            <a:endParaRPr lang="en-IN" sz="2000" dirty="0"/>
          </a:p>
        </p:txBody>
      </p:sp>
    </p:spTree>
    <p:extLst>
      <p:ext uri="{BB962C8B-B14F-4D97-AF65-F5344CB8AC3E}">
        <p14:creationId xmlns:p14="http://schemas.microsoft.com/office/powerpoint/2010/main" val="56868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AF4A4-8A19-17C8-6A32-8080719E0CA0}"/>
              </a:ext>
            </a:extLst>
          </p:cNvPr>
          <p:cNvSpPr>
            <a:spLocks noGrp="1"/>
          </p:cNvSpPr>
          <p:nvPr>
            <p:ph type="title"/>
          </p:nvPr>
        </p:nvSpPr>
        <p:spPr/>
        <p:txBody>
          <a:bodyPr>
            <a:noAutofit/>
          </a:bodyPr>
          <a:lstStyle/>
          <a:p>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5400" dirty="0">
                <a:latin typeface="Times New Roman" panose="02020603050405020304" pitchFamily="18" charset="0"/>
                <a:cs typeface="Times New Roman" panose="02020603050405020304" pitchFamily="18" charset="0"/>
              </a:rPr>
            </a:br>
            <a:r>
              <a:rPr lang="en-IN" sz="5400" dirty="0">
                <a:latin typeface="Times New Roman" panose="02020603050405020304" pitchFamily="18" charset="0"/>
                <a:cs typeface="Times New Roman" panose="02020603050405020304" pitchFamily="18" charset="0"/>
              </a:rPr>
              <a:t>Q2. Prepare a presentation on the EER Model demonstrating Generalization and Specialization with a University case study.</a:t>
            </a:r>
          </a:p>
        </p:txBody>
      </p:sp>
    </p:spTree>
    <p:extLst>
      <p:ext uri="{BB962C8B-B14F-4D97-AF65-F5344CB8AC3E}">
        <p14:creationId xmlns:p14="http://schemas.microsoft.com/office/powerpoint/2010/main" val="371632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7848-9FC5-1B3C-B289-65B480D59AC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 to EER Model</a:t>
            </a:r>
          </a:p>
        </p:txBody>
      </p:sp>
      <p:sp>
        <p:nvSpPr>
          <p:cNvPr id="3" name="Content Placeholder 2">
            <a:extLst>
              <a:ext uri="{FF2B5EF4-FFF2-40B4-BE49-F238E27FC236}">
                <a16:creationId xmlns:a16="http://schemas.microsoft.com/office/drawing/2014/main" id="{CC60CA9A-BA9D-A527-8F6A-292EE80A0337}"/>
              </a:ext>
            </a:extLst>
          </p:cNvPr>
          <p:cNvSpPr>
            <a:spLocks noGrp="1"/>
          </p:cNvSpPr>
          <p:nvPr>
            <p:ph idx="1"/>
          </p:nvPr>
        </p:nvSpPr>
        <p:spPr>
          <a:xfrm>
            <a:off x="529481" y="1624584"/>
            <a:ext cx="11001103" cy="5059680"/>
          </a:xfrm>
        </p:spPr>
        <p:txBody>
          <a:bodyPr>
            <a:normAutofit fontScale="92500" lnSpcReduction="20000"/>
          </a:bodyPr>
          <a:lstStyle/>
          <a:p>
            <a:pPr marL="0" indent="0">
              <a:buNone/>
            </a:pPr>
            <a:r>
              <a:rPr lang="en-IN" b="1" dirty="0"/>
              <a:t>Definition</a:t>
            </a:r>
          </a:p>
          <a:p>
            <a:pPr lvl="1"/>
            <a:r>
              <a:rPr lang="en-IN" dirty="0"/>
              <a:t>The Enhanced Entity Relationship (EER) Model is an advanced version of the ER model that provides additional features such as </a:t>
            </a:r>
            <a:r>
              <a:rPr lang="en-IN" b="1" dirty="0"/>
              <a:t>Generalization</a:t>
            </a:r>
            <a:r>
              <a:rPr lang="en-IN" dirty="0"/>
              <a:t>, </a:t>
            </a:r>
            <a:r>
              <a:rPr lang="en-IN" b="1" dirty="0"/>
              <a:t>Specialization</a:t>
            </a:r>
            <a:r>
              <a:rPr lang="en-IN" dirty="0"/>
              <a:t>, </a:t>
            </a:r>
            <a:r>
              <a:rPr lang="en-IN" b="1" dirty="0"/>
              <a:t>Inheritance</a:t>
            </a:r>
            <a:r>
              <a:rPr lang="en-IN" dirty="0"/>
              <a:t>, and </a:t>
            </a:r>
            <a:r>
              <a:rPr lang="en-IN" b="1" dirty="0"/>
              <a:t>Aggregation</a:t>
            </a:r>
            <a:r>
              <a:rPr lang="en-IN" dirty="0"/>
              <a:t> to represent complex real-world database structures more effectively.</a:t>
            </a:r>
          </a:p>
          <a:p>
            <a:r>
              <a:rPr lang="en-IN" b="1" dirty="0"/>
              <a:t>Why EER?</a:t>
            </a:r>
          </a:p>
          <a:p>
            <a:pPr lvl="1"/>
            <a:r>
              <a:rPr lang="en-IN" dirty="0"/>
              <a:t>Models complex database requirements. </a:t>
            </a:r>
          </a:p>
          <a:p>
            <a:pPr lvl="1"/>
            <a:r>
              <a:rPr lang="en-IN" dirty="0"/>
              <a:t>Supports inheritance of attributes. </a:t>
            </a:r>
          </a:p>
          <a:p>
            <a:pPr lvl="1"/>
            <a:r>
              <a:rPr lang="en-IN" dirty="0"/>
              <a:t>Reduces redundancy. </a:t>
            </a:r>
          </a:p>
          <a:p>
            <a:pPr lvl="1"/>
            <a:r>
              <a:rPr lang="en-IN" dirty="0"/>
              <a:t>Improves scalability and flexibility. </a:t>
            </a:r>
          </a:p>
          <a:p>
            <a:pPr lvl="1"/>
            <a:r>
              <a:rPr lang="en-IN" dirty="0"/>
              <a:t>Represents real-world objects accurately. </a:t>
            </a:r>
          </a:p>
          <a:p>
            <a:r>
              <a:rPr lang="en-IN" b="1" dirty="0"/>
              <a:t>Key Concepts</a:t>
            </a:r>
          </a:p>
          <a:p>
            <a:pPr lvl="1"/>
            <a:r>
              <a:rPr lang="en-IN" b="1" dirty="0"/>
              <a:t>Generalization</a:t>
            </a:r>
            <a:r>
              <a:rPr lang="en-IN" dirty="0"/>
              <a:t> </a:t>
            </a:r>
          </a:p>
          <a:p>
            <a:pPr lvl="1"/>
            <a:r>
              <a:rPr lang="en-IN" b="1" dirty="0"/>
              <a:t>Specialization</a:t>
            </a:r>
            <a:r>
              <a:rPr lang="en-IN" dirty="0"/>
              <a:t> </a:t>
            </a:r>
          </a:p>
          <a:p>
            <a:pPr lvl="1"/>
            <a:r>
              <a:rPr lang="en-IN" b="1" dirty="0"/>
              <a:t>Inheritance</a:t>
            </a:r>
            <a:endParaRPr lang="en-IN" dirty="0"/>
          </a:p>
          <a:p>
            <a:endParaRPr lang="en-IN" dirty="0"/>
          </a:p>
        </p:txBody>
      </p:sp>
    </p:spTree>
    <p:extLst>
      <p:ext uri="{BB962C8B-B14F-4D97-AF65-F5344CB8AC3E}">
        <p14:creationId xmlns:p14="http://schemas.microsoft.com/office/powerpoint/2010/main" val="3318772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84AF95-286B-8BDF-DF31-E3B635CC8F5D}"/>
              </a:ext>
            </a:extLst>
          </p:cNvPr>
          <p:cNvPicPr>
            <a:picLocks noGrp="1" noChangeAspect="1"/>
          </p:cNvPicPr>
          <p:nvPr>
            <p:ph idx="1"/>
          </p:nvPr>
        </p:nvPicPr>
        <p:blipFill>
          <a:blip r:embed="rId2"/>
          <a:srcRect r="1741" b="6258"/>
          <a:stretch>
            <a:fillRect/>
          </a:stretch>
        </p:blipFill>
        <p:spPr>
          <a:xfrm>
            <a:off x="1591056" y="731520"/>
            <a:ext cx="9217152" cy="4837177"/>
          </a:xfrm>
          <a:prstGeom prst="rect">
            <a:avLst/>
          </a:prstGeom>
        </p:spPr>
      </p:pic>
    </p:spTree>
    <p:extLst>
      <p:ext uri="{BB962C8B-B14F-4D97-AF65-F5344CB8AC3E}">
        <p14:creationId xmlns:p14="http://schemas.microsoft.com/office/powerpoint/2010/main" val="3104667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E9D3-E3EF-B3FC-3701-22203FE7EC01}"/>
              </a:ext>
            </a:extLst>
          </p:cNvPr>
          <p:cNvSpPr>
            <a:spLocks noGrp="1"/>
          </p:cNvSpPr>
          <p:nvPr>
            <p:ph type="title"/>
          </p:nvPr>
        </p:nvSpPr>
        <p:spPr>
          <a:xfrm>
            <a:off x="713014" y="-122039"/>
            <a:ext cx="10515600" cy="1325563"/>
          </a:xfrm>
        </p:spPr>
        <p:txBody>
          <a:bodyPr/>
          <a:lstStyle/>
          <a:p>
            <a:r>
              <a:rPr lang="en-IN" dirty="0">
                <a:latin typeface="Times New Roman" panose="02020603050405020304" pitchFamily="18" charset="0"/>
                <a:cs typeface="Times New Roman" panose="02020603050405020304" pitchFamily="18" charset="0"/>
              </a:rPr>
              <a:t>Benefits and Applications of EER Model</a:t>
            </a:r>
          </a:p>
        </p:txBody>
      </p:sp>
      <p:sp>
        <p:nvSpPr>
          <p:cNvPr id="3" name="Content Placeholder 2">
            <a:extLst>
              <a:ext uri="{FF2B5EF4-FFF2-40B4-BE49-F238E27FC236}">
                <a16:creationId xmlns:a16="http://schemas.microsoft.com/office/drawing/2014/main" id="{ECA4ADBB-41EB-0D67-30E3-DBD8C7D67CF9}"/>
              </a:ext>
            </a:extLst>
          </p:cNvPr>
          <p:cNvSpPr>
            <a:spLocks noGrp="1"/>
          </p:cNvSpPr>
          <p:nvPr>
            <p:ph idx="1"/>
          </p:nvPr>
        </p:nvSpPr>
        <p:spPr>
          <a:xfrm>
            <a:off x="575854" y="1203524"/>
            <a:ext cx="8238962" cy="4932100"/>
          </a:xfrm>
        </p:spPr>
        <p:txBody>
          <a:bodyPr>
            <a:noAutofit/>
          </a:bodyPr>
          <a:lstStyle/>
          <a:p>
            <a:pPr marL="0" indent="0">
              <a:buNone/>
            </a:pPr>
            <a:r>
              <a:rPr lang="en-IN" sz="1600" b="1" dirty="0"/>
              <a:t>Generalization</a:t>
            </a:r>
          </a:p>
          <a:p>
            <a:pPr lvl="1"/>
            <a:r>
              <a:rPr lang="en-IN" sz="1800" dirty="0"/>
              <a:t>Generalization combines multiple lower-level entities into a higher-level entity based on common attributes.</a:t>
            </a:r>
          </a:p>
          <a:p>
            <a:pPr lvl="1"/>
            <a:r>
              <a:rPr lang="en-IN" sz="1800" b="1" dirty="0"/>
              <a:t>Example:</a:t>
            </a:r>
            <a:endParaRPr lang="en-IN" sz="1800" dirty="0"/>
          </a:p>
          <a:p>
            <a:pPr lvl="1"/>
            <a:r>
              <a:rPr lang="en-IN" sz="1800" dirty="0"/>
              <a:t>Student and Employee share common attributes such as Name, Address, and Phone. </a:t>
            </a:r>
          </a:p>
          <a:p>
            <a:pPr lvl="1"/>
            <a:r>
              <a:rPr lang="en-IN" sz="1800" dirty="0"/>
              <a:t>These are generalized into a common superclass called </a:t>
            </a:r>
            <a:r>
              <a:rPr lang="en-IN" sz="1800" b="1" dirty="0"/>
              <a:t>Person</a:t>
            </a:r>
            <a:r>
              <a:rPr lang="en-IN" sz="1800" dirty="0"/>
              <a:t>. </a:t>
            </a:r>
          </a:p>
          <a:p>
            <a:pPr marL="0" indent="0">
              <a:buNone/>
            </a:pPr>
            <a:br>
              <a:rPr lang="en-IN" sz="1600" dirty="0"/>
            </a:br>
            <a:endParaRPr lang="en-IN" sz="1600" dirty="0"/>
          </a:p>
          <a:p>
            <a:pPr marL="0" indent="0">
              <a:buNone/>
            </a:pPr>
            <a:r>
              <a:rPr lang="en-IN" sz="1600" b="1" dirty="0"/>
              <a:t>Specialization</a:t>
            </a:r>
          </a:p>
          <a:p>
            <a:pPr lvl="1"/>
            <a:r>
              <a:rPr lang="en-IN" sz="1800" dirty="0"/>
              <a:t>Specialization divides a higher-level entity into lower-level entities based on specific characteristics.</a:t>
            </a:r>
          </a:p>
          <a:p>
            <a:pPr lvl="1"/>
            <a:r>
              <a:rPr lang="en-IN" sz="1800" b="1" dirty="0"/>
              <a:t>Example:</a:t>
            </a:r>
            <a:endParaRPr lang="en-IN" sz="1800" dirty="0"/>
          </a:p>
          <a:p>
            <a:pPr lvl="1"/>
            <a:r>
              <a:rPr lang="en-IN" sz="1800" dirty="0"/>
              <a:t>Student → UG Student, PG Student </a:t>
            </a:r>
          </a:p>
          <a:p>
            <a:pPr lvl="1"/>
            <a:r>
              <a:rPr lang="en-IN" sz="1800" dirty="0"/>
              <a:t>Employee → Professor, Staff </a:t>
            </a:r>
          </a:p>
          <a:p>
            <a:pPr marL="0" indent="0">
              <a:buNone/>
            </a:pPr>
            <a:br>
              <a:rPr lang="en-IN" sz="1600" dirty="0"/>
            </a:br>
            <a:endParaRPr lang="en-IN" sz="1600" dirty="0"/>
          </a:p>
        </p:txBody>
      </p:sp>
    </p:spTree>
    <p:extLst>
      <p:ext uri="{BB962C8B-B14F-4D97-AF65-F5344CB8AC3E}">
        <p14:creationId xmlns:p14="http://schemas.microsoft.com/office/powerpoint/2010/main" val="3072024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9D334C-C748-1266-0073-E2842F330714}"/>
              </a:ext>
            </a:extLst>
          </p:cNvPr>
          <p:cNvSpPr txBox="1"/>
          <p:nvPr/>
        </p:nvSpPr>
        <p:spPr>
          <a:xfrm>
            <a:off x="609600" y="2115235"/>
            <a:ext cx="10744200" cy="2308324"/>
          </a:xfrm>
          <a:prstGeom prst="rect">
            <a:avLst/>
          </a:prstGeom>
          <a:noFill/>
        </p:spPr>
        <p:txBody>
          <a:bodyPr wrap="square">
            <a:spAutoFit/>
          </a:bodyPr>
          <a:lstStyle/>
          <a:p>
            <a:r>
              <a:rPr lang="en-IN" sz="4800" dirty="0">
                <a:latin typeface="Times New Roman" panose="02020603050405020304" pitchFamily="18" charset="0"/>
                <a:cs typeface="Times New Roman" panose="02020603050405020304" pitchFamily="18" charset="0"/>
              </a:rPr>
              <a:t>Q3.Present the concept of Data Independence (Logical and Physical) and its significance in DBMS Architecture.</a:t>
            </a:r>
          </a:p>
        </p:txBody>
      </p:sp>
    </p:spTree>
    <p:extLst>
      <p:ext uri="{BB962C8B-B14F-4D97-AF65-F5344CB8AC3E}">
        <p14:creationId xmlns:p14="http://schemas.microsoft.com/office/powerpoint/2010/main" val="285985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6702E-4526-3AAF-69AF-A6C0D4A1B8D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Independence</a:t>
            </a:r>
          </a:p>
        </p:txBody>
      </p:sp>
      <p:sp>
        <p:nvSpPr>
          <p:cNvPr id="3" name="Content Placeholder 2">
            <a:extLst>
              <a:ext uri="{FF2B5EF4-FFF2-40B4-BE49-F238E27FC236}">
                <a16:creationId xmlns:a16="http://schemas.microsoft.com/office/drawing/2014/main" id="{78B174C8-EA20-1938-0066-2F38C0680158}"/>
              </a:ext>
            </a:extLst>
          </p:cNvPr>
          <p:cNvSpPr>
            <a:spLocks noGrp="1"/>
          </p:cNvSpPr>
          <p:nvPr>
            <p:ph idx="1"/>
          </p:nvPr>
        </p:nvSpPr>
        <p:spPr>
          <a:xfrm>
            <a:off x="838200" y="1408176"/>
            <a:ext cx="10515600" cy="4768787"/>
          </a:xfrm>
        </p:spPr>
        <p:txBody>
          <a:bodyPr>
            <a:normAutofit fontScale="77500" lnSpcReduction="20000"/>
          </a:bodyPr>
          <a:lstStyle/>
          <a:p>
            <a:pPr marL="0" indent="0">
              <a:buNone/>
            </a:pPr>
            <a:r>
              <a:rPr lang="en-IN" dirty="0"/>
              <a:t>	</a:t>
            </a:r>
            <a:r>
              <a:rPr lang="en-IN" sz="2900" dirty="0"/>
              <a:t>Data Independence is the ability of a Database Management System (DBMS) to modify the database schema at one level without affecting the schema at the next higher level. It allows changes to the database structure without requiring modifications to application programs</a:t>
            </a:r>
            <a:r>
              <a:rPr lang="en-IN" dirty="0"/>
              <a:t>.</a:t>
            </a:r>
          </a:p>
          <a:p>
            <a:pPr marL="0" indent="0">
              <a:buNone/>
            </a:pPr>
            <a:r>
              <a:rPr lang="en-IN" b="1" dirty="0"/>
              <a:t>Types of Data Independence</a:t>
            </a:r>
          </a:p>
          <a:p>
            <a:pPr lvl="1"/>
            <a:r>
              <a:rPr lang="en-IN" b="1" dirty="0"/>
              <a:t>Logical Data Independence</a:t>
            </a:r>
            <a:r>
              <a:rPr lang="en-IN" dirty="0"/>
              <a:t> </a:t>
            </a:r>
          </a:p>
          <a:p>
            <a:pPr lvl="1"/>
            <a:r>
              <a:rPr lang="en-IN" b="1" dirty="0"/>
              <a:t>Physical Data Independence</a:t>
            </a:r>
            <a:r>
              <a:rPr lang="en-IN" dirty="0"/>
              <a:t> </a:t>
            </a:r>
          </a:p>
          <a:p>
            <a:pPr lvl="1"/>
            <a:r>
              <a:rPr lang="en-IN" b="1" dirty="0"/>
              <a:t>DBMS Three-Level Architecture</a:t>
            </a:r>
          </a:p>
          <a:p>
            <a:pPr lvl="2"/>
            <a:r>
              <a:rPr lang="en-IN" b="1" dirty="0"/>
              <a:t>External Level:</a:t>
            </a:r>
            <a:r>
              <a:rPr lang="en-IN" dirty="0"/>
              <a:t> User views of the database. </a:t>
            </a:r>
          </a:p>
          <a:p>
            <a:pPr lvl="2"/>
            <a:r>
              <a:rPr lang="en-IN" b="1" dirty="0"/>
              <a:t>Conceptual Level:</a:t>
            </a:r>
            <a:r>
              <a:rPr lang="en-IN" dirty="0"/>
              <a:t> Overall logical structure of the database. </a:t>
            </a:r>
          </a:p>
          <a:p>
            <a:pPr lvl="2"/>
            <a:r>
              <a:rPr lang="en-IN" b="1" dirty="0"/>
              <a:t>Internal Level:</a:t>
            </a:r>
            <a:r>
              <a:rPr lang="en-IN" dirty="0"/>
              <a:t> Physical storage and organization of data. </a:t>
            </a:r>
          </a:p>
          <a:p>
            <a:pPr marL="0" indent="0">
              <a:buNone/>
            </a:pPr>
            <a:r>
              <a:rPr lang="en-IN" b="1" dirty="0"/>
              <a:t>Importance</a:t>
            </a:r>
          </a:p>
          <a:p>
            <a:r>
              <a:rPr lang="en-IN" dirty="0"/>
              <a:t>Reduces application maintenance. </a:t>
            </a:r>
          </a:p>
          <a:p>
            <a:r>
              <a:rPr lang="en-IN" dirty="0"/>
              <a:t>Provides flexibility in database design. </a:t>
            </a:r>
          </a:p>
          <a:p>
            <a:r>
              <a:rPr lang="en-IN" dirty="0"/>
              <a:t>Improves system scalability. </a:t>
            </a:r>
          </a:p>
          <a:p>
            <a:r>
              <a:rPr lang="en-IN" dirty="0"/>
              <a:t>Makes database management easier.</a:t>
            </a:r>
          </a:p>
          <a:p>
            <a:pPr marL="0" indent="0">
              <a:buNone/>
            </a:pPr>
            <a:endParaRPr lang="en-IN" dirty="0"/>
          </a:p>
        </p:txBody>
      </p:sp>
    </p:spTree>
    <p:extLst>
      <p:ext uri="{BB962C8B-B14F-4D97-AF65-F5344CB8AC3E}">
        <p14:creationId xmlns:p14="http://schemas.microsoft.com/office/powerpoint/2010/main" val="3374556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A572D-5652-9DB6-87F9-170D7129C87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Types of Data Independence</a:t>
            </a:r>
          </a:p>
        </p:txBody>
      </p:sp>
      <p:sp>
        <p:nvSpPr>
          <p:cNvPr id="3" name="Content Placeholder 2">
            <a:extLst>
              <a:ext uri="{FF2B5EF4-FFF2-40B4-BE49-F238E27FC236}">
                <a16:creationId xmlns:a16="http://schemas.microsoft.com/office/drawing/2014/main" id="{C8B8F97D-F473-55CC-FCC5-438AE0EEF4AD}"/>
              </a:ext>
            </a:extLst>
          </p:cNvPr>
          <p:cNvSpPr>
            <a:spLocks noGrp="1"/>
          </p:cNvSpPr>
          <p:nvPr>
            <p:ph idx="1"/>
          </p:nvPr>
        </p:nvSpPr>
        <p:spPr>
          <a:xfrm>
            <a:off x="838200" y="1690688"/>
            <a:ext cx="10515600" cy="4351338"/>
          </a:xfrm>
        </p:spPr>
        <p:txBody>
          <a:bodyPr>
            <a:normAutofit fontScale="47500" lnSpcReduction="20000"/>
          </a:bodyPr>
          <a:lstStyle/>
          <a:p>
            <a:pPr marL="0" indent="0">
              <a:buNone/>
            </a:pPr>
            <a:r>
              <a:rPr lang="en-IN" sz="3300" b="1" dirty="0"/>
              <a:t>Logical Data Independence</a:t>
            </a:r>
          </a:p>
          <a:p>
            <a:r>
              <a:rPr lang="en-IN" sz="3300" dirty="0"/>
              <a:t>Modifies the </a:t>
            </a:r>
            <a:r>
              <a:rPr lang="en-IN" sz="3300" b="1" dirty="0"/>
              <a:t>conceptual schema</a:t>
            </a:r>
            <a:r>
              <a:rPr lang="en-IN" sz="3300" dirty="0"/>
              <a:t> without affecting user applications. </a:t>
            </a:r>
          </a:p>
          <a:p>
            <a:r>
              <a:rPr lang="en-IN" sz="3300" dirty="0"/>
              <a:t>Supports changes in database structure. </a:t>
            </a:r>
          </a:p>
          <a:p>
            <a:r>
              <a:rPr lang="en-IN" sz="3300" b="1" dirty="0"/>
              <a:t>Examples:</a:t>
            </a:r>
            <a:r>
              <a:rPr lang="en-IN" sz="3300" dirty="0"/>
              <a:t> </a:t>
            </a:r>
          </a:p>
          <a:p>
            <a:pPr lvl="1"/>
            <a:r>
              <a:rPr lang="en-IN" sz="3300" dirty="0"/>
              <a:t>Add a new column. </a:t>
            </a:r>
          </a:p>
          <a:p>
            <a:pPr lvl="1"/>
            <a:r>
              <a:rPr lang="en-IN" sz="3300" dirty="0"/>
              <a:t>Create a new table. </a:t>
            </a:r>
          </a:p>
          <a:p>
            <a:pPr lvl="1"/>
            <a:r>
              <a:rPr lang="en-IN" sz="3300" dirty="0"/>
              <a:t>Modify relationships. </a:t>
            </a:r>
          </a:p>
          <a:p>
            <a:pPr marL="0" indent="0">
              <a:buNone/>
            </a:pPr>
            <a:br>
              <a:rPr lang="en-IN" sz="3300" dirty="0"/>
            </a:br>
            <a:endParaRPr lang="en-IN" sz="3300" dirty="0"/>
          </a:p>
          <a:p>
            <a:pPr marL="0" indent="0">
              <a:buNone/>
            </a:pPr>
            <a:r>
              <a:rPr lang="en-IN" sz="3300" b="1" dirty="0"/>
              <a:t>Physical Data Independence</a:t>
            </a:r>
          </a:p>
          <a:p>
            <a:r>
              <a:rPr lang="en-IN" sz="3300" dirty="0"/>
              <a:t>Modifies the </a:t>
            </a:r>
            <a:r>
              <a:rPr lang="en-IN" sz="3300" b="1" dirty="0"/>
              <a:t>internal schema</a:t>
            </a:r>
            <a:r>
              <a:rPr lang="en-IN" sz="3300" dirty="0"/>
              <a:t> without affecting the logical structure. </a:t>
            </a:r>
          </a:p>
          <a:p>
            <a:r>
              <a:rPr lang="en-IN" sz="3300" dirty="0"/>
              <a:t>Improves storage and performance. </a:t>
            </a:r>
          </a:p>
          <a:p>
            <a:r>
              <a:rPr lang="en-IN" sz="3300" b="1" dirty="0"/>
              <a:t>Examples:</a:t>
            </a:r>
            <a:r>
              <a:rPr lang="en-IN" sz="3300" dirty="0"/>
              <a:t> </a:t>
            </a:r>
          </a:p>
          <a:p>
            <a:pPr lvl="1"/>
            <a:r>
              <a:rPr lang="en-IN" sz="3300" dirty="0"/>
              <a:t>Create indexes. </a:t>
            </a:r>
          </a:p>
          <a:p>
            <a:pPr lvl="1"/>
            <a:r>
              <a:rPr lang="en-IN" sz="3300" dirty="0"/>
              <a:t>Change file organization. </a:t>
            </a:r>
          </a:p>
          <a:p>
            <a:pPr lvl="1"/>
            <a:r>
              <a:rPr lang="en-IN" sz="3300" dirty="0"/>
              <a:t>Upgrade storage devices</a:t>
            </a:r>
            <a:r>
              <a:rPr lang="en-IN" dirty="0"/>
              <a:t>.</a:t>
            </a:r>
          </a:p>
        </p:txBody>
      </p:sp>
    </p:spTree>
    <p:extLst>
      <p:ext uri="{BB962C8B-B14F-4D97-AF65-F5344CB8AC3E}">
        <p14:creationId xmlns:p14="http://schemas.microsoft.com/office/powerpoint/2010/main" val="627092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98C7-F994-8F58-46E3-A01FCA061968}"/>
              </a:ext>
            </a:extLst>
          </p:cNvPr>
          <p:cNvSpPr>
            <a:spLocks noGrp="1"/>
          </p:cNvSpPr>
          <p:nvPr>
            <p:ph type="title"/>
          </p:nvPr>
        </p:nvSpPr>
        <p:spPr/>
        <p:txBody>
          <a:bodyPr/>
          <a:lstStyle/>
          <a:p>
            <a:r>
              <a:rPr lang="en-IN" b="1" dirty="0"/>
              <a:t>Significance in DBMS Architecture</a:t>
            </a:r>
          </a:p>
        </p:txBody>
      </p:sp>
      <p:sp>
        <p:nvSpPr>
          <p:cNvPr id="3" name="Content Placeholder 2">
            <a:extLst>
              <a:ext uri="{FF2B5EF4-FFF2-40B4-BE49-F238E27FC236}">
                <a16:creationId xmlns:a16="http://schemas.microsoft.com/office/drawing/2014/main" id="{F5128D91-8247-9C62-3CD5-355D2369F84C}"/>
              </a:ext>
            </a:extLst>
          </p:cNvPr>
          <p:cNvSpPr>
            <a:spLocks noGrp="1"/>
          </p:cNvSpPr>
          <p:nvPr>
            <p:ph idx="1"/>
          </p:nvPr>
        </p:nvSpPr>
        <p:spPr>
          <a:xfrm>
            <a:off x="774192" y="1551305"/>
            <a:ext cx="10515600" cy="4351338"/>
          </a:xfrm>
        </p:spPr>
        <p:txBody>
          <a:bodyPr>
            <a:normAutofit fontScale="85000" lnSpcReduction="20000"/>
          </a:bodyPr>
          <a:lstStyle/>
          <a:p>
            <a:pPr marL="0" indent="0">
              <a:buNone/>
            </a:pPr>
            <a:r>
              <a:rPr lang="en-IN" b="1" dirty="0"/>
              <a:t>Benefits</a:t>
            </a:r>
          </a:p>
          <a:p>
            <a:pPr lvl="1"/>
            <a:r>
              <a:rPr lang="en-IN" dirty="0"/>
              <a:t>Improves database flexibility. </a:t>
            </a:r>
          </a:p>
          <a:p>
            <a:pPr lvl="1"/>
            <a:r>
              <a:rPr lang="en-IN" dirty="0"/>
              <a:t>Simplifies database maintenance. </a:t>
            </a:r>
          </a:p>
          <a:p>
            <a:pPr lvl="1"/>
            <a:r>
              <a:rPr lang="en-IN" dirty="0"/>
              <a:t>Protects application programs from schema changes. </a:t>
            </a:r>
          </a:p>
          <a:p>
            <a:pPr lvl="1"/>
            <a:r>
              <a:rPr lang="en-IN" dirty="0"/>
              <a:t>Reduces development and maintenance costs. </a:t>
            </a:r>
          </a:p>
          <a:p>
            <a:pPr lvl="1"/>
            <a:r>
              <a:rPr lang="en-IN" dirty="0"/>
              <a:t>Enhances performance optimization. </a:t>
            </a:r>
          </a:p>
          <a:p>
            <a:pPr lvl="1"/>
            <a:r>
              <a:rPr lang="en-IN" dirty="0"/>
              <a:t>Supports future database expansion. </a:t>
            </a:r>
          </a:p>
          <a:p>
            <a:pPr lvl="1"/>
            <a:r>
              <a:rPr lang="en-IN" dirty="0"/>
              <a:t>Ensures efficient data management. </a:t>
            </a:r>
          </a:p>
          <a:p>
            <a:pPr marL="0" indent="0">
              <a:buNone/>
            </a:pPr>
            <a:r>
              <a:rPr lang="en-IN" b="1" dirty="0"/>
              <a:t>Applications</a:t>
            </a:r>
          </a:p>
          <a:p>
            <a:pPr lvl="1"/>
            <a:r>
              <a:rPr lang="en-IN" dirty="0"/>
              <a:t>Banking Systems </a:t>
            </a:r>
          </a:p>
          <a:p>
            <a:pPr lvl="1"/>
            <a:r>
              <a:rPr lang="en-IN" dirty="0"/>
              <a:t>Hospital Management Systems </a:t>
            </a:r>
          </a:p>
          <a:p>
            <a:pPr lvl="1"/>
            <a:r>
              <a:rPr lang="en-IN" dirty="0"/>
              <a:t>Online Library Systems </a:t>
            </a:r>
          </a:p>
          <a:p>
            <a:pPr lvl="1"/>
            <a:r>
              <a:rPr lang="en-IN" dirty="0"/>
              <a:t>E-commerce Platforms </a:t>
            </a:r>
          </a:p>
          <a:p>
            <a:pPr lvl="1"/>
            <a:r>
              <a:rPr lang="en-IN" dirty="0"/>
              <a:t>University Management Systems</a:t>
            </a:r>
          </a:p>
        </p:txBody>
      </p:sp>
    </p:spTree>
    <p:extLst>
      <p:ext uri="{BB962C8B-B14F-4D97-AF65-F5344CB8AC3E}">
        <p14:creationId xmlns:p14="http://schemas.microsoft.com/office/powerpoint/2010/main" val="1686503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1E7FF4-E992-EEA5-EDF3-D9C4FF0243F7}"/>
              </a:ext>
            </a:extLst>
          </p:cNvPr>
          <p:cNvSpPr txBox="1"/>
          <p:nvPr/>
        </p:nvSpPr>
        <p:spPr>
          <a:xfrm>
            <a:off x="936171" y="2151727"/>
            <a:ext cx="10602685" cy="2554545"/>
          </a:xfrm>
          <a:prstGeom prst="rect">
            <a:avLst/>
          </a:prstGeom>
          <a:noFill/>
        </p:spPr>
        <p:txBody>
          <a:bodyPr wrap="square">
            <a:spAutoFit/>
          </a:bodyPr>
          <a:lstStyle/>
          <a:p>
            <a:r>
              <a:rPr lang="en-IN" sz="4000" dirty="0">
                <a:latin typeface="Times New Roman" panose="02020603050405020304" pitchFamily="18" charset="0"/>
                <a:cs typeface="Times New Roman" panose="02020603050405020304" pitchFamily="18" charset="0"/>
              </a:rPr>
              <a:t>Q4. Deliver a technical presentation on the software components of a DBMS explaining Query Processor, Storage Manager and Transaction Manager.</a:t>
            </a:r>
          </a:p>
        </p:txBody>
      </p:sp>
    </p:spTree>
    <p:extLst>
      <p:ext uri="{BB962C8B-B14F-4D97-AF65-F5344CB8AC3E}">
        <p14:creationId xmlns:p14="http://schemas.microsoft.com/office/powerpoint/2010/main" val="776214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B7E3A-7F08-6883-0FC5-9BA6B2504316}"/>
              </a:ext>
            </a:extLst>
          </p:cNvPr>
          <p:cNvSpPr>
            <a:spLocks noGrp="1"/>
          </p:cNvSpPr>
          <p:nvPr>
            <p:ph type="title"/>
          </p:nvPr>
        </p:nvSpPr>
        <p:spPr/>
        <p:txBody>
          <a:bodyPr/>
          <a:lstStyle/>
          <a:p>
            <a:r>
              <a:rPr lang="en-IN" b="1" dirty="0"/>
              <a:t>Software Components of a DBMS</a:t>
            </a:r>
          </a:p>
        </p:txBody>
      </p:sp>
      <p:sp>
        <p:nvSpPr>
          <p:cNvPr id="3" name="Content Placeholder 2">
            <a:extLst>
              <a:ext uri="{FF2B5EF4-FFF2-40B4-BE49-F238E27FC236}">
                <a16:creationId xmlns:a16="http://schemas.microsoft.com/office/drawing/2014/main" id="{DA2BA8EB-64E2-1D6B-51C6-EF1FDDFFA8E9}"/>
              </a:ext>
            </a:extLst>
          </p:cNvPr>
          <p:cNvSpPr>
            <a:spLocks noGrp="1"/>
          </p:cNvSpPr>
          <p:nvPr>
            <p:ph idx="1"/>
          </p:nvPr>
        </p:nvSpPr>
        <p:spPr/>
        <p:txBody>
          <a:bodyPr>
            <a:normAutofit fontScale="92500" lnSpcReduction="10000"/>
          </a:bodyPr>
          <a:lstStyle/>
          <a:p>
            <a:pPr marL="0" indent="0">
              <a:buNone/>
            </a:pPr>
            <a:endParaRPr lang="en-IN" b="1" dirty="0"/>
          </a:p>
          <a:p>
            <a:pPr marL="0" indent="0">
              <a:buNone/>
            </a:pPr>
            <a:r>
              <a:rPr lang="en-IN" b="1" dirty="0"/>
              <a:t>Definition</a:t>
            </a:r>
          </a:p>
          <a:p>
            <a:pPr lvl="1"/>
            <a:r>
              <a:rPr lang="en-IN" dirty="0"/>
              <a:t>A Database Management System (DBMS) consists of software components that work together to store, retrieve, manage, and secure data efficiently.</a:t>
            </a:r>
          </a:p>
          <a:p>
            <a:pPr lvl="1"/>
            <a:r>
              <a:rPr lang="en-IN" b="1" dirty="0"/>
              <a:t>Main Components</a:t>
            </a:r>
          </a:p>
          <a:p>
            <a:pPr lvl="1"/>
            <a:r>
              <a:rPr lang="en-IN" b="1" dirty="0"/>
              <a:t>Query Processor</a:t>
            </a:r>
            <a:r>
              <a:rPr lang="en-IN" dirty="0"/>
              <a:t> </a:t>
            </a:r>
          </a:p>
          <a:p>
            <a:pPr lvl="1"/>
            <a:r>
              <a:rPr lang="en-IN" b="1" dirty="0"/>
              <a:t>Storage Manager</a:t>
            </a:r>
            <a:r>
              <a:rPr lang="en-IN" dirty="0"/>
              <a:t> </a:t>
            </a:r>
          </a:p>
          <a:p>
            <a:pPr lvl="1"/>
            <a:r>
              <a:rPr lang="en-IN" b="1" dirty="0"/>
              <a:t>Transaction Manager</a:t>
            </a:r>
            <a:r>
              <a:rPr lang="en-IN" dirty="0"/>
              <a:t> </a:t>
            </a:r>
          </a:p>
          <a:p>
            <a:pPr marL="0" indent="0">
              <a:buNone/>
            </a:pPr>
            <a:r>
              <a:rPr lang="en-IN" b="1" dirty="0"/>
              <a:t>Objectives</a:t>
            </a:r>
          </a:p>
          <a:p>
            <a:pPr lvl="1"/>
            <a:r>
              <a:rPr lang="en-IN" sz="2200" dirty="0"/>
              <a:t>Process user queries efficiently. </a:t>
            </a:r>
          </a:p>
          <a:p>
            <a:pPr lvl="1"/>
            <a:r>
              <a:rPr lang="en-IN" sz="2200" dirty="0"/>
              <a:t>Manage data storage and retrieval. </a:t>
            </a:r>
          </a:p>
          <a:p>
            <a:pPr lvl="1"/>
            <a:r>
              <a:rPr lang="en-IN" sz="2200" dirty="0"/>
              <a:t>Ensure data consistency and reliability during transactions.</a:t>
            </a:r>
          </a:p>
        </p:txBody>
      </p:sp>
    </p:spTree>
    <p:extLst>
      <p:ext uri="{BB962C8B-B14F-4D97-AF65-F5344CB8AC3E}">
        <p14:creationId xmlns:p14="http://schemas.microsoft.com/office/powerpoint/2010/main" val="123092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A976-FCE6-9F17-2057-37F11314357D}"/>
              </a:ext>
            </a:extLst>
          </p:cNvPr>
          <p:cNvSpPr>
            <a:spLocks noGrp="1"/>
          </p:cNvSpPr>
          <p:nvPr>
            <p:ph type="title"/>
          </p:nvPr>
        </p:nvSpPr>
        <p:spPr>
          <a:xfrm>
            <a:off x="838200" y="-201803"/>
            <a:ext cx="10515600" cy="1325563"/>
          </a:xfrm>
        </p:spPr>
        <p:txBody>
          <a:bodyPr/>
          <a:lstStyle/>
          <a:p>
            <a:r>
              <a:rPr lang="en-IN" dirty="0">
                <a:latin typeface="Times New Roman" panose="02020603050405020304" pitchFamily="18" charset="0"/>
                <a:cs typeface="Times New Roman" panose="02020603050405020304" pitchFamily="18" charset="0"/>
              </a:rPr>
              <a:t>Components</a:t>
            </a:r>
          </a:p>
        </p:txBody>
      </p:sp>
      <p:sp>
        <p:nvSpPr>
          <p:cNvPr id="3" name="Content Placeholder 2">
            <a:extLst>
              <a:ext uri="{FF2B5EF4-FFF2-40B4-BE49-F238E27FC236}">
                <a16:creationId xmlns:a16="http://schemas.microsoft.com/office/drawing/2014/main" id="{63E86F32-821E-2ECF-76E1-E9B5926389CA}"/>
              </a:ext>
            </a:extLst>
          </p:cNvPr>
          <p:cNvSpPr>
            <a:spLocks noGrp="1"/>
          </p:cNvSpPr>
          <p:nvPr>
            <p:ph idx="1"/>
          </p:nvPr>
        </p:nvSpPr>
        <p:spPr>
          <a:xfrm>
            <a:off x="914400" y="739712"/>
            <a:ext cx="5181600" cy="4947104"/>
          </a:xfrm>
        </p:spPr>
        <p:txBody>
          <a:bodyPr>
            <a:noAutofit/>
          </a:bodyPr>
          <a:lstStyle/>
          <a:p>
            <a:pPr marL="0" indent="0">
              <a:buNone/>
            </a:pPr>
            <a:endParaRPr lang="en-IN" sz="1400" b="1" dirty="0"/>
          </a:p>
          <a:p>
            <a:pPr marL="0" indent="0">
              <a:buNone/>
            </a:pPr>
            <a:r>
              <a:rPr lang="en-IN" sz="1400" b="1" dirty="0"/>
              <a:t>1. Query Processor</a:t>
            </a:r>
          </a:p>
          <a:p>
            <a:r>
              <a:rPr lang="en-IN" sz="1400" dirty="0"/>
              <a:t>Interprets SQL queries submitted by users. </a:t>
            </a:r>
          </a:p>
          <a:p>
            <a:r>
              <a:rPr lang="en-IN" sz="1400" dirty="0"/>
              <a:t>Checks query syntax and validity. </a:t>
            </a:r>
          </a:p>
          <a:p>
            <a:r>
              <a:rPr lang="en-IN" sz="1400" b="1" dirty="0"/>
              <a:t>Example:</a:t>
            </a:r>
          </a:p>
          <a:p>
            <a:pPr marL="0" indent="0">
              <a:buNone/>
            </a:pPr>
            <a:br>
              <a:rPr lang="en-IN" sz="1400" dirty="0"/>
            </a:br>
            <a:r>
              <a:rPr lang="en-IN" sz="1400" dirty="0"/>
              <a:t>SELECT * FROM Student WHERE Department = 'CSE';</a:t>
            </a:r>
            <a:br>
              <a:rPr lang="en-IN" sz="1400" dirty="0"/>
            </a:br>
            <a:endParaRPr lang="en-IN" sz="1400" dirty="0"/>
          </a:p>
          <a:p>
            <a:pPr marL="0" indent="0">
              <a:buNone/>
            </a:pPr>
            <a:r>
              <a:rPr lang="en-IN" sz="1400" b="1" dirty="0"/>
              <a:t>2. Storage Manager</a:t>
            </a:r>
          </a:p>
          <a:p>
            <a:r>
              <a:rPr lang="en-IN" sz="1400" dirty="0"/>
              <a:t>Stores and retrieves data from the database. </a:t>
            </a:r>
          </a:p>
          <a:p>
            <a:r>
              <a:rPr lang="en-IN" sz="1400" dirty="0"/>
              <a:t>Manages files, indexes, and memory. </a:t>
            </a:r>
          </a:p>
          <a:p>
            <a:pPr marL="0" indent="0">
              <a:buNone/>
            </a:pPr>
            <a:r>
              <a:rPr lang="en-IN" sz="1400" b="1" dirty="0"/>
              <a:t>Example:</a:t>
            </a:r>
          </a:p>
          <a:p>
            <a:pPr marL="0" indent="0">
              <a:buNone/>
            </a:pPr>
            <a:br>
              <a:rPr lang="en-IN" sz="1400" dirty="0"/>
            </a:br>
            <a:r>
              <a:rPr lang="en-IN" sz="1400" dirty="0"/>
              <a:t>Retrieving student records stored on disk.</a:t>
            </a:r>
            <a:br>
              <a:rPr lang="en-IN" sz="1400" dirty="0"/>
            </a:br>
            <a:endParaRPr lang="en-IN" sz="1400" dirty="0"/>
          </a:p>
          <a:p>
            <a:pPr marL="0" indent="0">
              <a:buNone/>
            </a:pPr>
            <a:r>
              <a:rPr lang="en-IN" sz="1400" b="1" dirty="0"/>
              <a:t>3. Transaction Manager</a:t>
            </a:r>
          </a:p>
          <a:p>
            <a:r>
              <a:rPr lang="en-IN" sz="1400" dirty="0"/>
              <a:t>Controls database transactions. </a:t>
            </a:r>
          </a:p>
          <a:p>
            <a:r>
              <a:rPr lang="en-IN" sz="1400" dirty="0"/>
              <a:t>Maintains data consistency and integrity. </a:t>
            </a:r>
          </a:p>
          <a:p>
            <a:r>
              <a:rPr lang="en-IN" sz="1400" dirty="0"/>
              <a:t>Supports </a:t>
            </a:r>
            <a:r>
              <a:rPr lang="en-IN" sz="1400" b="1" dirty="0"/>
              <a:t>Commit</a:t>
            </a:r>
            <a:r>
              <a:rPr lang="en-IN" sz="1400" dirty="0"/>
              <a:t> and </a:t>
            </a:r>
            <a:r>
              <a:rPr lang="en-IN" sz="1400" b="1" dirty="0"/>
              <a:t>Rollback</a:t>
            </a:r>
            <a:r>
              <a:rPr lang="en-IN" sz="1400" dirty="0"/>
              <a:t> operations. </a:t>
            </a:r>
          </a:p>
          <a:p>
            <a:r>
              <a:rPr lang="en-IN" sz="1400" dirty="0"/>
              <a:t>Handles concurrent user access.</a:t>
            </a:r>
          </a:p>
        </p:txBody>
      </p:sp>
    </p:spTree>
    <p:extLst>
      <p:ext uri="{BB962C8B-B14F-4D97-AF65-F5344CB8AC3E}">
        <p14:creationId xmlns:p14="http://schemas.microsoft.com/office/powerpoint/2010/main" val="2216851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2007B-9D66-2AD3-F76B-A6387E3DBF4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Benefits of DBMS Components</a:t>
            </a:r>
          </a:p>
        </p:txBody>
      </p:sp>
      <p:sp>
        <p:nvSpPr>
          <p:cNvPr id="3" name="Content Placeholder 2">
            <a:extLst>
              <a:ext uri="{FF2B5EF4-FFF2-40B4-BE49-F238E27FC236}">
                <a16:creationId xmlns:a16="http://schemas.microsoft.com/office/drawing/2014/main" id="{2890CECB-D6D5-6705-EE5D-B41822BC4BED}"/>
              </a:ext>
            </a:extLst>
          </p:cNvPr>
          <p:cNvSpPr>
            <a:spLocks noGrp="1"/>
          </p:cNvSpPr>
          <p:nvPr>
            <p:ph idx="1"/>
          </p:nvPr>
        </p:nvSpPr>
        <p:spPr>
          <a:xfrm>
            <a:off x="664029" y="1589314"/>
            <a:ext cx="10689771" cy="4587649"/>
          </a:xfrm>
        </p:spPr>
        <p:txBody>
          <a:bodyPr>
            <a:normAutofit fontScale="62500" lnSpcReduction="20000"/>
          </a:bodyPr>
          <a:lstStyle/>
          <a:p>
            <a:pPr marL="0" indent="0">
              <a:buNone/>
            </a:pPr>
            <a:r>
              <a:rPr lang="en-IN" b="1" dirty="0"/>
              <a:t>Importance of DBMS Software Components</a:t>
            </a:r>
          </a:p>
          <a:p>
            <a:r>
              <a:rPr lang="en-IN" b="1" dirty="0"/>
              <a:t>Query Processor</a:t>
            </a:r>
          </a:p>
          <a:p>
            <a:r>
              <a:rPr lang="en-IN" dirty="0"/>
              <a:t>✔ Faster query execution</a:t>
            </a:r>
          </a:p>
          <a:p>
            <a:r>
              <a:rPr lang="en-IN" dirty="0"/>
              <a:t>✔ Optimized SQL processing</a:t>
            </a:r>
          </a:p>
          <a:p>
            <a:br>
              <a:rPr lang="en-IN" dirty="0"/>
            </a:br>
            <a:endParaRPr lang="en-IN" dirty="0"/>
          </a:p>
          <a:p>
            <a:pPr marL="0" indent="0">
              <a:buNone/>
            </a:pPr>
            <a:r>
              <a:rPr lang="en-IN" b="1" dirty="0"/>
              <a:t>Storage Manager</a:t>
            </a:r>
          </a:p>
          <a:p>
            <a:r>
              <a:rPr lang="en-IN" dirty="0"/>
              <a:t>✔ Efficient storage utilization</a:t>
            </a:r>
          </a:p>
          <a:p>
            <a:r>
              <a:rPr lang="en-IN" dirty="0"/>
              <a:t>✔ Quick data retrieval</a:t>
            </a:r>
          </a:p>
          <a:p>
            <a:br>
              <a:rPr lang="en-IN" dirty="0"/>
            </a:br>
            <a:endParaRPr lang="en-IN" dirty="0"/>
          </a:p>
          <a:p>
            <a:pPr marL="0" indent="0">
              <a:buNone/>
            </a:pPr>
            <a:r>
              <a:rPr lang="en-IN" b="1" dirty="0"/>
              <a:t>Transaction Manager</a:t>
            </a:r>
          </a:p>
          <a:p>
            <a:r>
              <a:rPr lang="en-IN" dirty="0"/>
              <a:t>✔ Prevents data loss</a:t>
            </a:r>
          </a:p>
          <a:p>
            <a:r>
              <a:rPr lang="en-IN" dirty="0"/>
              <a:t>✔ Ensures ACID properties</a:t>
            </a:r>
          </a:p>
          <a:p>
            <a:r>
              <a:rPr lang="en-IN" dirty="0"/>
              <a:t>✔ Supports multi-user access</a:t>
            </a:r>
          </a:p>
        </p:txBody>
      </p:sp>
    </p:spTree>
    <p:extLst>
      <p:ext uri="{BB962C8B-B14F-4D97-AF65-F5344CB8AC3E}">
        <p14:creationId xmlns:p14="http://schemas.microsoft.com/office/powerpoint/2010/main" val="398064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840233-ED44-6275-9EDA-A466D477C965}"/>
              </a:ext>
            </a:extLst>
          </p:cNvPr>
          <p:cNvSpPr>
            <a:spLocks noGrp="1"/>
          </p:cNvSpPr>
          <p:nvPr>
            <p:ph idx="1"/>
          </p:nvPr>
        </p:nvSpPr>
        <p:spPr/>
        <p:txBody>
          <a:bodyPr>
            <a:normAutofit/>
          </a:bodyPr>
          <a:lstStyle/>
          <a:p>
            <a:pPr marL="0" indent="0">
              <a:buNone/>
            </a:pPr>
            <a:endParaRPr lang="en-IN" sz="4400" dirty="0">
              <a:latin typeface="Times New Roman" panose="02020603050405020304" pitchFamily="18" charset="0"/>
              <a:cs typeface="Times New Roman" panose="02020603050405020304" pitchFamily="18" charset="0"/>
            </a:endParaRPr>
          </a:p>
          <a:p>
            <a:pPr marL="0" indent="0">
              <a:buNone/>
            </a:pPr>
            <a:r>
              <a:rPr lang="en-IN" sz="4800" dirty="0">
                <a:latin typeface="Times New Roman" panose="02020603050405020304" pitchFamily="18" charset="0"/>
                <a:cs typeface="Times New Roman" panose="02020603050405020304" pitchFamily="18" charset="0"/>
              </a:rPr>
              <a:t>Q5. Prepare a presentation comparing Strong and Weak Entities in ER Modeling with real-world examples.</a:t>
            </a:r>
          </a:p>
        </p:txBody>
      </p:sp>
    </p:spTree>
    <p:extLst>
      <p:ext uri="{BB962C8B-B14F-4D97-AF65-F5344CB8AC3E}">
        <p14:creationId xmlns:p14="http://schemas.microsoft.com/office/powerpoint/2010/main" val="2601896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842D-DCA5-031F-17F5-F397AF6CCC29}"/>
              </a:ext>
            </a:extLst>
          </p:cNvPr>
          <p:cNvSpPr>
            <a:spLocks noGrp="1"/>
          </p:cNvSpPr>
          <p:nvPr>
            <p:ph type="title"/>
          </p:nvPr>
        </p:nvSpPr>
        <p:spPr/>
        <p:txBody>
          <a:bodyPr/>
          <a:lstStyle/>
          <a:p>
            <a:r>
              <a:rPr lang="en-IN" b="1" dirty="0"/>
              <a:t>Strong and Weak Entities in ER </a:t>
            </a:r>
            <a:r>
              <a:rPr lang="en-IN" b="1" dirty="0" err="1"/>
              <a:t>Modeling</a:t>
            </a:r>
            <a:endParaRPr lang="en-IN" b="1" dirty="0"/>
          </a:p>
        </p:txBody>
      </p:sp>
      <p:sp>
        <p:nvSpPr>
          <p:cNvPr id="3" name="Content Placeholder 2">
            <a:extLst>
              <a:ext uri="{FF2B5EF4-FFF2-40B4-BE49-F238E27FC236}">
                <a16:creationId xmlns:a16="http://schemas.microsoft.com/office/drawing/2014/main" id="{38FBA455-54C6-F0EF-F21C-491FF7150134}"/>
              </a:ext>
            </a:extLst>
          </p:cNvPr>
          <p:cNvSpPr>
            <a:spLocks noGrp="1"/>
          </p:cNvSpPr>
          <p:nvPr>
            <p:ph idx="1"/>
          </p:nvPr>
        </p:nvSpPr>
        <p:spPr/>
        <p:txBody>
          <a:bodyPr>
            <a:normAutofit fontScale="85000" lnSpcReduction="20000"/>
          </a:bodyPr>
          <a:lstStyle/>
          <a:p>
            <a:pPr marL="0" indent="0">
              <a:buNone/>
            </a:pPr>
            <a:r>
              <a:rPr lang="en-IN" b="1" dirty="0"/>
              <a:t>Definition</a:t>
            </a:r>
          </a:p>
          <a:p>
            <a:r>
              <a:rPr lang="en-IN" dirty="0"/>
              <a:t>An </a:t>
            </a:r>
            <a:r>
              <a:rPr lang="en-IN" b="1" dirty="0"/>
              <a:t>Entity</a:t>
            </a:r>
            <a:r>
              <a:rPr lang="en-IN" dirty="0"/>
              <a:t> is a real-world object that can be identified and stored in a database. Based on identification, entities are classified into </a:t>
            </a:r>
            <a:r>
              <a:rPr lang="en-IN" b="1" dirty="0"/>
              <a:t>Strong Entities</a:t>
            </a:r>
            <a:r>
              <a:rPr lang="en-IN" dirty="0"/>
              <a:t> and </a:t>
            </a:r>
            <a:r>
              <a:rPr lang="en-IN" b="1" dirty="0"/>
              <a:t>Weak Entities</a:t>
            </a:r>
            <a:r>
              <a:rPr lang="en-IN" dirty="0"/>
              <a:t>.</a:t>
            </a:r>
          </a:p>
          <a:p>
            <a:pPr marL="0" indent="0">
              <a:buNone/>
            </a:pPr>
            <a:r>
              <a:rPr lang="en-IN" b="1" dirty="0"/>
              <a:t>Strong Entity</a:t>
            </a:r>
          </a:p>
          <a:p>
            <a:r>
              <a:rPr lang="en-IN" dirty="0"/>
              <a:t>Has its own </a:t>
            </a:r>
            <a:r>
              <a:rPr lang="en-IN" b="1" dirty="0"/>
              <a:t>Primary Key</a:t>
            </a:r>
            <a:r>
              <a:rPr lang="en-IN" dirty="0"/>
              <a:t>. </a:t>
            </a:r>
          </a:p>
          <a:p>
            <a:r>
              <a:rPr lang="en-IN" dirty="0"/>
              <a:t>Can exist independently. </a:t>
            </a:r>
          </a:p>
          <a:p>
            <a:r>
              <a:rPr lang="en-IN" dirty="0"/>
              <a:t>Easily identified by its unique key. </a:t>
            </a:r>
          </a:p>
          <a:p>
            <a:pPr marL="0" indent="0">
              <a:buNone/>
            </a:pPr>
            <a:r>
              <a:rPr lang="en-IN" b="1" dirty="0"/>
              <a:t>Weak Entity</a:t>
            </a:r>
          </a:p>
          <a:p>
            <a:r>
              <a:rPr lang="en-IN" dirty="0"/>
              <a:t>Does not have a complete Primary Key. </a:t>
            </a:r>
          </a:p>
          <a:p>
            <a:r>
              <a:rPr lang="en-IN" dirty="0"/>
              <a:t>Depends on a Strong Entity for identification. </a:t>
            </a:r>
          </a:p>
          <a:p>
            <a:r>
              <a:rPr lang="en-IN" dirty="0"/>
              <a:t>Uses a </a:t>
            </a:r>
            <a:r>
              <a:rPr lang="en-IN" b="1" dirty="0"/>
              <a:t>Partial Key</a:t>
            </a:r>
            <a:r>
              <a:rPr lang="en-IN" dirty="0"/>
              <a:t> along with the Strong Entity's Primary Key.</a:t>
            </a:r>
          </a:p>
        </p:txBody>
      </p:sp>
    </p:spTree>
    <p:extLst>
      <p:ext uri="{BB962C8B-B14F-4D97-AF65-F5344CB8AC3E}">
        <p14:creationId xmlns:p14="http://schemas.microsoft.com/office/powerpoint/2010/main" val="3329688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99995-A5BC-C5DF-B7FF-FA78C6BAEA9B}"/>
              </a:ext>
            </a:extLst>
          </p:cNvPr>
          <p:cNvSpPr>
            <a:spLocks noGrp="1"/>
          </p:cNvSpPr>
          <p:nvPr>
            <p:ph type="title"/>
          </p:nvPr>
        </p:nvSpPr>
        <p:spPr/>
        <p:txBody>
          <a:bodyPr>
            <a:normAutofit/>
          </a:bodyPr>
          <a:lstStyle/>
          <a:p>
            <a:r>
              <a:rPr lang="en-IN" sz="4000" b="1" dirty="0"/>
              <a:t>Strong Entity vs Weak Entity</a:t>
            </a: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9BA5327-9BBE-0377-FED8-07CD8852661B}"/>
              </a:ext>
            </a:extLst>
          </p:cNvPr>
          <p:cNvSpPr>
            <a:spLocks noGrp="1"/>
          </p:cNvSpPr>
          <p:nvPr>
            <p:ph idx="1"/>
          </p:nvPr>
        </p:nvSpPr>
        <p:spPr/>
        <p:txBody>
          <a:bodyPr>
            <a:normAutofit fontScale="85000" lnSpcReduction="20000"/>
          </a:bodyPr>
          <a:lstStyle/>
          <a:p>
            <a:pPr marL="0" indent="0">
              <a:buNone/>
            </a:pPr>
            <a:r>
              <a:rPr lang="en-IN" b="1" dirty="0"/>
              <a:t>Strong Entity</a:t>
            </a:r>
          </a:p>
          <a:p>
            <a:pPr lvl="1"/>
            <a:r>
              <a:rPr lang="en-IN" dirty="0"/>
              <a:t>A strong entity has its </a:t>
            </a:r>
            <a:r>
              <a:rPr lang="en-IN" b="1" dirty="0"/>
              <a:t>own Primary Key</a:t>
            </a:r>
            <a:r>
              <a:rPr lang="en-IN" dirty="0"/>
              <a:t>, allowing it to be uniquely identified. </a:t>
            </a:r>
          </a:p>
          <a:p>
            <a:pPr lvl="1"/>
            <a:r>
              <a:rPr lang="en-IN" dirty="0"/>
              <a:t>It can exist </a:t>
            </a:r>
            <a:r>
              <a:rPr lang="en-IN" b="1" dirty="0"/>
              <a:t>independently</a:t>
            </a:r>
            <a:r>
              <a:rPr lang="en-IN" dirty="0"/>
              <a:t> without relying on any other entity. </a:t>
            </a:r>
          </a:p>
          <a:p>
            <a:pPr lvl="1"/>
            <a:r>
              <a:rPr lang="en-IN" dirty="0"/>
              <a:t>It is represented by a </a:t>
            </a:r>
            <a:r>
              <a:rPr lang="en-IN" b="1" dirty="0"/>
              <a:t>single rectangle</a:t>
            </a:r>
            <a:r>
              <a:rPr lang="en-IN" dirty="0"/>
              <a:t> in an ER diagram. </a:t>
            </a:r>
          </a:p>
          <a:p>
            <a:pPr lvl="1"/>
            <a:r>
              <a:rPr lang="en-IN" b="1" dirty="0"/>
              <a:t>Example:</a:t>
            </a:r>
            <a:br>
              <a:rPr lang="en-IN" dirty="0"/>
            </a:br>
            <a:r>
              <a:rPr lang="en-IN" b="1" dirty="0"/>
              <a:t>Student (</a:t>
            </a:r>
            <a:r>
              <a:rPr lang="en-IN" b="1" dirty="0" err="1"/>
              <a:t>Student_ID</a:t>
            </a:r>
            <a:r>
              <a:rPr lang="en-IN" b="1" dirty="0"/>
              <a:t>, Name, Department)</a:t>
            </a:r>
            <a:endParaRPr lang="en-IN" dirty="0"/>
          </a:p>
          <a:p>
            <a:pPr marL="457200" lvl="1" indent="0">
              <a:buNone/>
            </a:pPr>
            <a:endParaRPr lang="en-IN" dirty="0"/>
          </a:p>
          <a:p>
            <a:pPr marL="0" indent="0">
              <a:buNone/>
            </a:pPr>
            <a:r>
              <a:rPr lang="en-IN" b="1" dirty="0"/>
              <a:t>Weak Entity</a:t>
            </a:r>
          </a:p>
          <a:p>
            <a:pPr lvl="1"/>
            <a:r>
              <a:rPr lang="en-IN" dirty="0"/>
              <a:t>A weak entity </a:t>
            </a:r>
            <a:r>
              <a:rPr lang="en-IN" b="1" dirty="0"/>
              <a:t>cannot be uniquely identified</a:t>
            </a:r>
            <a:r>
              <a:rPr lang="en-IN" dirty="0"/>
              <a:t> by its own attributes. </a:t>
            </a:r>
          </a:p>
          <a:p>
            <a:pPr lvl="1"/>
            <a:r>
              <a:rPr lang="en-IN" dirty="0"/>
              <a:t>It depends on a </a:t>
            </a:r>
            <a:r>
              <a:rPr lang="en-IN" b="1" dirty="0"/>
              <a:t>Strong Entity</a:t>
            </a:r>
            <a:r>
              <a:rPr lang="en-IN" dirty="0"/>
              <a:t> and uses a </a:t>
            </a:r>
            <a:r>
              <a:rPr lang="en-IN" b="1" dirty="0"/>
              <a:t>Partial Key</a:t>
            </a:r>
            <a:r>
              <a:rPr lang="en-IN" dirty="0"/>
              <a:t> along with the Strong Entity's Primary Key for identification. </a:t>
            </a:r>
          </a:p>
          <a:p>
            <a:pPr lvl="1"/>
            <a:r>
              <a:rPr lang="en-IN" dirty="0"/>
              <a:t>It is represented by a </a:t>
            </a:r>
            <a:r>
              <a:rPr lang="en-IN" b="1" dirty="0"/>
              <a:t>double rectangle</a:t>
            </a:r>
            <a:r>
              <a:rPr lang="en-IN" dirty="0"/>
              <a:t> in an ER diagram. </a:t>
            </a:r>
          </a:p>
          <a:p>
            <a:pPr marL="457200" lvl="1" indent="0">
              <a:buNone/>
            </a:pPr>
            <a:r>
              <a:rPr lang="en-IN" b="1" dirty="0"/>
              <a:t>Example:</a:t>
            </a:r>
            <a:br>
              <a:rPr lang="en-IN" dirty="0"/>
            </a:br>
            <a:r>
              <a:rPr lang="en-IN" dirty="0"/>
              <a:t>	</a:t>
            </a:r>
            <a:r>
              <a:rPr lang="en-IN" b="1" dirty="0"/>
              <a:t>Student Certificate (</a:t>
            </a:r>
            <a:r>
              <a:rPr lang="en-IN" b="1" dirty="0" err="1"/>
              <a:t>Certificate_ID</a:t>
            </a:r>
            <a:r>
              <a:rPr lang="en-IN" b="1" dirty="0"/>
              <a:t>, Type)</a:t>
            </a:r>
            <a:r>
              <a:rPr lang="en-IN" dirty="0"/>
              <a:t> – A certificate exists only if the corresponding student exists.</a:t>
            </a:r>
          </a:p>
          <a:p>
            <a:endParaRPr lang="en-IN" dirty="0"/>
          </a:p>
        </p:txBody>
      </p:sp>
    </p:spTree>
    <p:extLst>
      <p:ext uri="{BB962C8B-B14F-4D97-AF65-F5344CB8AC3E}">
        <p14:creationId xmlns:p14="http://schemas.microsoft.com/office/powerpoint/2010/main" val="1968723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CA75A-3074-E69D-D3DA-A075D67BDF25}"/>
              </a:ext>
            </a:extLst>
          </p:cNvPr>
          <p:cNvSpPr>
            <a:spLocks noGrp="1"/>
          </p:cNvSpPr>
          <p:nvPr>
            <p:ph type="title"/>
          </p:nvPr>
        </p:nvSpPr>
        <p:spPr>
          <a:xfrm>
            <a:off x="522514" y="365125"/>
            <a:ext cx="10831286" cy="1325563"/>
          </a:xfrm>
        </p:spPr>
        <p:txBody>
          <a:bodyPr>
            <a:normAutofit/>
          </a:bodyPr>
          <a:lstStyle/>
          <a:p>
            <a:r>
              <a:rPr lang="en-IN" sz="3600" b="1" dirty="0"/>
              <a:t>Real-World Examples &amp; Conclusion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5DEE94-DBF0-AA70-A937-46D93A4BAF21}"/>
              </a:ext>
            </a:extLst>
          </p:cNvPr>
          <p:cNvSpPr>
            <a:spLocks noGrp="1"/>
          </p:cNvSpPr>
          <p:nvPr>
            <p:ph idx="1"/>
          </p:nvPr>
        </p:nvSpPr>
        <p:spPr>
          <a:xfrm>
            <a:off x="598714" y="1534886"/>
            <a:ext cx="8426414" cy="5387122"/>
          </a:xfrm>
        </p:spPr>
        <p:txBody>
          <a:bodyPr>
            <a:noAutofit/>
          </a:bodyPr>
          <a:lstStyle/>
          <a:p>
            <a:pPr marL="0" indent="0">
              <a:buNone/>
            </a:pPr>
            <a:r>
              <a:rPr lang="en-IN" sz="2000" b="1" dirty="0"/>
              <a:t>Example 1 – College Database</a:t>
            </a:r>
          </a:p>
          <a:p>
            <a:r>
              <a:rPr lang="en-IN" sz="2000" b="1" dirty="0"/>
              <a:t>Strong Entity:</a:t>
            </a:r>
            <a:r>
              <a:rPr lang="en-IN" sz="2000" dirty="0"/>
              <a:t> Student (</a:t>
            </a:r>
            <a:r>
              <a:rPr lang="en-IN" sz="2000" dirty="0" err="1"/>
              <a:t>Student_ID</a:t>
            </a:r>
            <a:r>
              <a:rPr lang="en-IN" sz="2000" dirty="0"/>
              <a:t>, Name, Department)</a:t>
            </a:r>
          </a:p>
          <a:p>
            <a:r>
              <a:rPr lang="en-IN" sz="2000" b="1" dirty="0"/>
              <a:t>Weak Entity:</a:t>
            </a:r>
            <a:r>
              <a:rPr lang="en-IN" sz="2000" dirty="0"/>
              <a:t> Student Certificate (</a:t>
            </a:r>
            <a:r>
              <a:rPr lang="en-IN" sz="2000" dirty="0" err="1"/>
              <a:t>Certificate_ID</a:t>
            </a:r>
            <a:r>
              <a:rPr lang="en-IN" sz="2000" dirty="0"/>
              <a:t>, Type)</a:t>
            </a:r>
          </a:p>
          <a:p>
            <a:r>
              <a:rPr lang="en-IN" sz="2000" dirty="0"/>
              <a:t>A certificate cannot exist without a student. </a:t>
            </a:r>
          </a:p>
          <a:p>
            <a:pPr marL="0" indent="0">
              <a:buNone/>
            </a:pPr>
            <a:r>
              <a:rPr lang="en-IN" sz="2000" b="1" dirty="0"/>
              <a:t>Example 2 – E-Commerce</a:t>
            </a:r>
          </a:p>
          <a:p>
            <a:r>
              <a:rPr lang="en-IN" sz="2000" b="1" dirty="0"/>
              <a:t>Strong Entity:</a:t>
            </a:r>
            <a:r>
              <a:rPr lang="en-IN" sz="2000" dirty="0"/>
              <a:t> Order (</a:t>
            </a:r>
            <a:r>
              <a:rPr lang="en-IN" sz="2000" dirty="0" err="1"/>
              <a:t>Order_ID</a:t>
            </a:r>
            <a:r>
              <a:rPr lang="en-IN" sz="2000" dirty="0"/>
              <a:t>, Date)</a:t>
            </a:r>
          </a:p>
          <a:p>
            <a:r>
              <a:rPr lang="en-IN" sz="2000" b="1" dirty="0"/>
              <a:t>Weak Entity:</a:t>
            </a:r>
            <a:r>
              <a:rPr lang="en-IN" sz="2000" dirty="0"/>
              <a:t> Order Item (Product_ID, Quantity)</a:t>
            </a:r>
          </a:p>
          <a:p>
            <a:r>
              <a:rPr lang="en-IN" sz="2000" dirty="0"/>
              <a:t>An order item exists only if an order exists. </a:t>
            </a:r>
          </a:p>
          <a:p>
            <a:pPr marL="0" indent="0">
              <a:buNone/>
            </a:pPr>
            <a:r>
              <a:rPr lang="en-IN" sz="2000" b="1" dirty="0"/>
              <a:t>Advantages</a:t>
            </a:r>
          </a:p>
          <a:p>
            <a:r>
              <a:rPr lang="en-IN" sz="2000" dirty="0"/>
              <a:t>Reduces data redundancy. </a:t>
            </a:r>
          </a:p>
          <a:p>
            <a:r>
              <a:rPr lang="en-IN" sz="2000" dirty="0"/>
              <a:t>Maintains referential integrity. </a:t>
            </a:r>
          </a:p>
          <a:p>
            <a:r>
              <a:rPr lang="en-IN" sz="2000" dirty="0"/>
              <a:t>Represents real-world relationships accurately. </a:t>
            </a:r>
          </a:p>
          <a:p>
            <a:r>
              <a:rPr lang="en-IN" sz="2000" dirty="0"/>
              <a:t>Improves database organization.</a:t>
            </a:r>
          </a:p>
        </p:txBody>
      </p:sp>
    </p:spTree>
    <p:extLst>
      <p:ext uri="{BB962C8B-B14F-4D97-AF65-F5344CB8AC3E}">
        <p14:creationId xmlns:p14="http://schemas.microsoft.com/office/powerpoint/2010/main" val="3101129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1227</Words>
  <Application>Microsoft Office PowerPoint</Application>
  <PresentationFormat>Widescreen</PresentationFormat>
  <Paragraphs>186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Times New Roman</vt:lpstr>
      <vt:lpstr>Office Theme</vt:lpstr>
      <vt:lpstr>TECHNICAL PRESENTATION</vt:lpstr>
      <vt:lpstr>Q1. Create and present an ER Diagram for an Online Library System, explaining each component clearly.</vt:lpstr>
      <vt:lpstr>ER Diagram for an Online Library Management System</vt:lpstr>
      <vt:lpstr>ER Diagram</vt:lpstr>
      <vt:lpstr>Explanation</vt:lpstr>
      <vt:lpstr>       Q2. Prepare a presentation on the EER Model demonstrating Generalization and Specialization with a University case study.</vt:lpstr>
      <vt:lpstr>Introduction to EER Model</vt:lpstr>
      <vt:lpstr>PowerPoint Presentation</vt:lpstr>
      <vt:lpstr>Benefits and Applications of EER Model</vt:lpstr>
      <vt:lpstr>PowerPoint Presentation</vt:lpstr>
      <vt:lpstr>Data Independence</vt:lpstr>
      <vt:lpstr>Types of Data Independence</vt:lpstr>
      <vt:lpstr>Significance in DBMS Architecture</vt:lpstr>
      <vt:lpstr>PowerPoint Presentation</vt:lpstr>
      <vt:lpstr>Software Components of a DBMS</vt:lpstr>
      <vt:lpstr>Components</vt:lpstr>
      <vt:lpstr>Benefits of DBMS Components</vt:lpstr>
      <vt:lpstr>PowerPoint Presentation</vt:lpstr>
      <vt:lpstr>Strong and Weak Entities in ER Modeling</vt:lpstr>
      <vt:lpstr>Strong Entity vs Weak Entity</vt:lpstr>
      <vt:lpstr>Real-World Examples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Geferlin Boffy</dc:creator>
  <cp:lastModifiedBy>DHANUSHYA RB</cp:lastModifiedBy>
  <cp:revision>2</cp:revision>
  <dcterms:created xsi:type="dcterms:W3CDTF">2026-07-16T16:06:07Z</dcterms:created>
  <dcterms:modified xsi:type="dcterms:W3CDTF">2026-07-23T05:16:02Z</dcterms:modified>
</cp:coreProperties>
</file>